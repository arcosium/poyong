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9994392" cy="30480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010412"/>
            <a:ext cx="9994392" cy="9525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9994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b="1" sz="1150" spc="250">
                <a:solidFill>
                  <a:srgbClr val="4A443A"/>
                </a:solidFill>
                <a:latin typeface="Noto Sans KR"/>
                <a:ea typeface="Noto Sans KR"/>
              </a:rPr>
              <a:t>2026 대학(원)생 재정데이터 분석 경진대회</a:t>
            </a:r>
            <a:r>
              <a:rPr b="0" sz="1150" spc="250">
                <a:solidFill>
                  <a:srgbClr val="8A8275"/>
                </a:solidFill>
                <a:latin typeface="Noto Sans KR"/>
                <a:ea typeface="Noto Sans KR"/>
              </a:rPr>
              <a:t>  —  최종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b="1" sz="4400">
                <a:solidFill>
                  <a:srgbClr val="1C1914"/>
                </a:solidFill>
                <a:latin typeface="Noto Serif KR"/>
                <a:ea typeface="Noto Serif KR"/>
              </a:rPr>
              <a:t>정책금융 재정의 사각지대 진단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9994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b="1" sz="2100">
                <a:solidFill>
                  <a:srgbClr val="4A443A"/>
                </a:solidFill>
                <a:latin typeface="Noto Serif KR"/>
                <a:ea typeface="Noto Serif KR"/>
              </a:rPr>
              <a:t>집행률을 넘어, </a:t>
            </a:r>
            <a:r>
              <a:rPr b="1" sz="2100">
                <a:solidFill>
                  <a:srgbClr val="A63A26"/>
                </a:solidFill>
                <a:latin typeface="Noto Serif KR"/>
                <a:ea typeface="Noto Serif KR"/>
              </a:rPr>
              <a:t>도달 지표</a:t>
            </a:r>
            <a:r>
              <a:rPr b="1" sz="2100">
                <a:solidFill>
                  <a:srgbClr val="4A443A"/>
                </a:solidFill>
                <a:latin typeface="Noto Serif KR"/>
                <a:ea typeface="Noto Serif KR"/>
              </a:rPr>
              <a:t>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1768" y="4114800"/>
            <a:ext cx="2194560" cy="12700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434840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팀 Voice2Policy</a:t>
            </a:r>
          </a:p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b="0" sz="1200">
                <a:solidFill>
                  <a:srgbClr val="4A443A"/>
                </a:solidFill>
                <a:latin typeface="Noto Sans KR"/>
                <a:ea typeface="Noto Sans KR"/>
              </a:rPr>
              <a:t>김현호(팀장) · 이호진 · 신재원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49240"/>
            <a:ext cx="9994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b="0" sz="1050">
                <a:solidFill>
                  <a:srgbClr val="8A8275"/>
                </a:solidFill>
                <a:latin typeface="IBM Plex Mono"/>
                <a:ea typeface="Noto Sans KR"/>
              </a:rPr>
              <a:t>2026. 8. 25. · 연세대학교 세브란스 빌딩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897880"/>
            <a:ext cx="9994392" cy="30480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5948172"/>
            <a:ext cx="9994392" cy="9525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01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문제 제기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돈은 다 나갔습니다. 닿았는지는 아무도 재지 않습니다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02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3800">
                <a:solidFill>
                  <a:srgbClr val="1C1914"/>
                </a:solidFill>
                <a:latin typeface="IBM Plex Mono SemiBold"/>
                <a:ea typeface="Noto Sans KR"/>
              </a:rPr>
              <a:t>98.25</a:t>
            </a:r>
            <a:r>
              <a:rPr b="0" sz="1400">
                <a:solidFill>
                  <a:srgbClr val="8A8275"/>
                </a:solidFill>
                <a:latin typeface="IBM Plex Mono"/>
                <a:ea typeface="Noto Sans KR"/>
              </a:rPr>
              <a:t>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5856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재정 세부사업 1.2만 개 중위 집행률(2024).</a:t>
            </a:r>
          </a:p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네 사업 중 하나는 99.99% 이상입니다.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3800">
                <a:solidFill>
                  <a:srgbClr val="1C1914"/>
                </a:solidFill>
                <a:latin typeface="IBM Plex Mono SemiBold"/>
                <a:ea typeface="Noto Sans KR"/>
              </a:rPr>
              <a:t>100.0</a:t>
            </a:r>
            <a:r>
              <a:rPr b="0" sz="1400">
                <a:solidFill>
                  <a:srgbClr val="8A8275"/>
                </a:solidFill>
                <a:latin typeface="IBM Plex Mono"/>
                <a:ea typeface="Noto Sans KR"/>
              </a:rPr>
              <a:t>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7588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정책서민금융 복권기금 세부사업 2개의</a:t>
            </a:r>
          </a:p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집행률 — 3년 연속, 이월·불용 0입니다.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3800">
                <a:solidFill>
                  <a:srgbClr val="A63A26"/>
                </a:solidFill>
                <a:latin typeface="IBM Plex Mono SemiBold"/>
                <a:ea typeface="Noto Sans KR"/>
              </a:rPr>
              <a:t>39.4</a:t>
            </a:r>
            <a:r>
              <a:rPr b="0" sz="1400">
                <a:solidFill>
                  <a:srgbClr val="8A8275"/>
                </a:solidFill>
                <a:latin typeface="IBM Plex Mono"/>
                <a:ea typeface="Noto Sans KR"/>
              </a:rPr>
              <a:t>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93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소액생계비대출 연체율('26.3말).</a:t>
            </a:r>
          </a:p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공급은 역대 최대인데 부실은 깊어집니다.</a:t>
            </a:r>
          </a:p>
        </p:txBody>
      </p:sp>
      <p:pic>
        <p:nvPicPr>
          <p:cNvPr id="13" name="Picture 12" descr="execution_rat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501" y="1691640"/>
            <a:ext cx="6668396" cy="3977639"/>
          </a:xfrm>
          <a:prstGeom prst="rect">
            <a:avLst/>
          </a:prstGeom>
          <a:ln w="12700">
            <a:solidFill>
              <a:srgbClr val="C9C2B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160520" y="5806440"/>
            <a:ext cx="7452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>
                <a:solidFill>
                  <a:srgbClr val="4A443A"/>
                </a:solidFill>
                <a:latin typeface="Noto Sans KR"/>
                <a:ea typeface="Noto Sans KR"/>
              </a:rPr>
              <a:t>집행률은 이미 만점 근처에 몰려 있어 성과를 가려내지 못합니다. 정부는 2025년에만 11조 8,253억 원의</a:t>
            </a:r>
          </a:p>
          <a:p>
            <a:pPr algn="l">
              <a:lnSpc>
                <a:spcPct val="118000"/>
              </a:lnSpc>
            </a:pPr>
            <a:r>
              <a:rPr b="0" sz="1200">
                <a:solidFill>
                  <a:srgbClr val="4A443A"/>
                </a:solidFill>
                <a:latin typeface="Noto Sans KR"/>
                <a:ea typeface="Noto Sans KR"/>
              </a:rPr>
              <a:t>정책서민금융 공급을 계획했지만, 그 돈이 필요한 사람에게 닿는 비율은 어느 통계도 재지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02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재지 않던 '도달'을 잴 수 있는 지표로 만들었습니다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03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300">
                <a:solidFill>
                  <a:srgbClr val="A63A26"/>
                </a:solidFill>
                <a:latin typeface="Noto Sans KR"/>
                <a:ea typeface="Noto Sans KR"/>
              </a:rPr>
              <a:t>핵심 지표 — 연간 공급 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500">
                <a:solidFill>
                  <a:srgbClr val="4A443A"/>
                </a:solidFill>
                <a:latin typeface="Noto Sans KR"/>
                <a:ea typeface="Noto Sans KR"/>
              </a:rPr>
              <a:t>자격 가구 100가구당 </a:t>
            </a:r>
            <a:r>
              <a:rPr b="1" sz="1500">
                <a:solidFill>
                  <a:srgbClr val="1C1914"/>
                </a:solidFill>
                <a:latin typeface="Noto Sans KR"/>
                <a:ea typeface="Noto Sans KR"/>
              </a:rPr>
              <a:t>연간 신규 공급 건수</a:t>
            </a:r>
          </a:p>
          <a:p>
            <a:pPr algn="l">
              <a:lnSpc>
                <a:spcPct val="130000"/>
              </a:lnSpc>
            </a:pPr>
            <a:r>
              <a:rPr b="0" sz="1500">
                <a:solidFill>
                  <a:srgbClr val="4A443A"/>
                </a:solidFill>
                <a:latin typeface="Noto Sans KR"/>
                <a:ea typeface="Noto Sans KR"/>
              </a:rPr>
              <a:t>분모(자격 가구)를 정부 승인 통계조사 마이크로데이터로</a:t>
            </a:r>
          </a:p>
          <a:p>
            <a:pPr algn="l">
              <a:lnSpc>
                <a:spcPct val="130000"/>
              </a:lnSpc>
            </a:pPr>
            <a:r>
              <a:rPr b="0" sz="1500">
                <a:solidFill>
                  <a:srgbClr val="4A443A"/>
                </a:solidFill>
                <a:latin typeface="Noto Sans KR"/>
                <a:ea typeface="Noto Sans KR"/>
              </a:rPr>
              <a:t>직접 추정합니다. 급여성 제도는 수급률로 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101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300">
                <a:solidFill>
                  <a:srgbClr val="A63A26"/>
                </a:solidFill>
                <a:latin typeface="Noto Sans KR"/>
                <a:ea typeface="Noto Sans KR"/>
              </a:rPr>
              <a:t>연구 질문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393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50">
                <a:solidFill>
                  <a:srgbClr val="1C1914"/>
                </a:solidFill>
                <a:latin typeface="IBM Plex Mono SemiBold"/>
                <a:ea typeface="Noto Sans KR"/>
              </a:rPr>
              <a:t>RQ1</a:t>
            </a:r>
            <a:r>
              <a:rPr b="0" sz="1400">
                <a:solidFill>
                  <a:srgbClr val="4A443A"/>
                </a:solidFill>
                <a:latin typeface="Noto Sans KR"/>
                <a:ea typeface="Noto Sans KR"/>
              </a:rPr>
              <a:t>   재정은 어디로 흘러갔는가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50">
                <a:solidFill>
                  <a:srgbClr val="1C1914"/>
                </a:solidFill>
                <a:latin typeface="IBM Plex Mono SemiBold"/>
                <a:ea typeface="Noto Sans KR"/>
              </a:rPr>
              <a:t>RQ2</a:t>
            </a:r>
            <a:r>
              <a:rPr b="0" sz="1400">
                <a:solidFill>
                  <a:srgbClr val="4A443A"/>
                </a:solidFill>
                <a:latin typeface="Noto Sans KR"/>
                <a:ea typeface="Noto Sans KR"/>
              </a:rPr>
              <a:t>   도달은 집단별로 얼마나 다른가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0740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50">
                <a:solidFill>
                  <a:srgbClr val="1C1914"/>
                </a:solidFill>
                <a:latin typeface="IBM Plex Mono SemiBold"/>
                <a:ea typeface="Noto Sans KR"/>
              </a:rPr>
              <a:t>RQ3</a:t>
            </a:r>
            <a:r>
              <a:rPr b="0" sz="1400">
                <a:solidFill>
                  <a:srgbClr val="4A443A"/>
                </a:solidFill>
                <a:latin typeface="Noto Sans KR"/>
                <a:ea typeface="Noto Sans KR"/>
              </a:rPr>
              <a:t>   전달체계는 얼마나 설명하는가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9145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50">
                <a:solidFill>
                  <a:srgbClr val="1C1914"/>
                </a:solidFill>
                <a:latin typeface="IBM Plex Mono SemiBold"/>
                <a:ea typeface="Noto Sans KR"/>
              </a:rPr>
              <a:t>RQ4</a:t>
            </a:r>
            <a:r>
              <a:rPr b="0" sz="1400">
                <a:solidFill>
                  <a:srgbClr val="4A443A"/>
                </a:solidFill>
                <a:latin typeface="Noto Sans KR"/>
                <a:ea typeface="Noto Sans KR"/>
              </a:rPr>
              <a:t>   재배분·상시 감지는 가능한가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300">
                <a:solidFill>
                  <a:srgbClr val="A63A26"/>
                </a:solidFill>
                <a:latin typeface="Noto Sans KR"/>
                <a:ea typeface="Noto Sans KR"/>
              </a:rPr>
              <a:t>데이터 — 7개 기관 계열 · 30여 개 원천 · 원본 168개 파일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93392"/>
            <a:ext cx="5303520" cy="13970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2128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300">
                <a:solidFill>
                  <a:srgbClr val="A63A26"/>
                </a:solidFill>
                <a:latin typeface="IBM Plex Mono SemiBold"/>
                <a:ea typeface="Noto Sans KR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19456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300">
                <a:solidFill>
                  <a:srgbClr val="1C1914"/>
                </a:solidFill>
                <a:latin typeface="Noto Sans KR"/>
                <a:ea typeface="Noto Sans KR"/>
              </a:rPr>
              <a:t>재정 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39696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100">
                <a:solidFill>
                  <a:srgbClr val="4A443A"/>
                </a:solidFill>
                <a:latin typeface="Noto Sans KR"/>
                <a:ea typeface="Noto Sans KR"/>
              </a:rPr>
              <a:t>열린재정 예산·결산 전수(연 1.2만 세부사업) · 복권기금 정보공개 · 서금원 재원조성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889503"/>
            <a:ext cx="5303520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05409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300">
                <a:solidFill>
                  <a:srgbClr val="A63A26"/>
                </a:solidFill>
                <a:latin typeface="IBM Plex Mono SemiBold"/>
                <a:ea typeface="Noto Sans KR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303580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300">
                <a:solidFill>
                  <a:srgbClr val="1C1914"/>
                </a:solidFill>
                <a:latin typeface="Noto Sans KR"/>
                <a:ea typeface="Noto Sans KR"/>
              </a:rPr>
              <a:t>공급·자격 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980944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100">
                <a:solidFill>
                  <a:srgbClr val="4A443A"/>
                </a:solidFill>
                <a:latin typeface="Noto Sans KR"/>
                <a:ea typeface="Noto Sans KR"/>
              </a:rPr>
              <a:t>서금원 실적 API 138개월 · 금융위 '서민금융 한눈에' 상품정보 9,816건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30752"/>
            <a:ext cx="5303520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89534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300">
                <a:solidFill>
                  <a:srgbClr val="A63A26"/>
                </a:solidFill>
                <a:latin typeface="IBM Plex Mono SemiBold"/>
                <a:ea typeface="Noto Sans K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877055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300">
                <a:solidFill>
                  <a:srgbClr val="1C1914"/>
                </a:solidFill>
                <a:latin typeface="Noto Sans KR"/>
                <a:ea typeface="Noto Sans KR"/>
              </a:rPr>
              <a:t>가구 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822191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100">
                <a:solidFill>
                  <a:srgbClr val="4A443A"/>
                </a:solidFill>
                <a:latin typeface="Noto Sans KR"/>
                <a:ea typeface="Noto Sans KR"/>
              </a:rPr>
              <a:t>가계금융복지조사 9개년 16.5만 가구 · 복지패널 · 재정패널(NaSTaB) 3.5만 가구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572000"/>
            <a:ext cx="5303520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54879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서로 다른 인코딩·단위·지역명을 7단계 파이프라인으로 표준화하고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출처 간 항등식 검증 13건으로 결합의 정합성을 확인했습니다.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02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분석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다섯 모듈이 재정 → 공급 → 가구 → 배분을 잇습니다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04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100">
                <a:solidFill>
                  <a:srgbClr val="A63A26"/>
                </a:solidFill>
                <a:latin typeface="IBM Plex Mono SemiBold"/>
                <a:ea typeface="Noto Sans K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9656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재정 공급 지도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837943"/>
            <a:ext cx="77266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관련 예산 21.4조 원 확정(원시 106.0조 중 위양성 79.8% 제외). 재원의 68.9%는 세출예산·기금 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86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9631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100">
                <a:solidFill>
                  <a:srgbClr val="A63A26"/>
                </a:solidFill>
                <a:latin typeface="IBM Plex Mono SemiBold"/>
                <a:ea typeface="Noto Sans KR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3288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자격 시뮬레이션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551176"/>
            <a:ext cx="77266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2025년 자격 가구 직접 추정 — 햇살론15 679만 · 소액생계비 280만 가구. 공급 강도 100가구당 10.0~12.0건.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5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0954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100">
                <a:solidFill>
                  <a:srgbClr val="A63A26"/>
                </a:solidFill>
                <a:latin typeface="IBM Plex Mono SemiBold"/>
                <a:ea typeface="Noto Sans KR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4612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사각지대 지수(CGI)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64408"/>
            <a:ext cx="77266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취약 수요는 공간 군집(Moran's I 0.245, p=0.044), 공급 접근성은 무작위(p=0.313) — 배치가 수요를 못 따라감.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13048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100">
                <a:solidFill>
                  <a:srgbClr val="A63A26"/>
                </a:solidFill>
                <a:latin typeface="IBM Plex Mono SemiBold"/>
                <a:ea typeface="Noto Sans KR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59352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전달체계 준실험(ITS)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977639"/>
            <a:ext cx="77266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소액생계비 도입(2023.3) 시점 직접취급 월 공급 +1.7만 건 점프(p&lt;0.001) — 문턱 낮은 접점의 효과.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26280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3600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100">
                <a:solidFill>
                  <a:srgbClr val="A63A26"/>
                </a:solidFill>
                <a:latin typeface="IBM Plex Mono SemiBold"/>
                <a:ea typeface="Noto Sans KR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7258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재배분·조기 경보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690872"/>
            <a:ext cx="77266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인구보정 CGI × 취약수요 규모 가중 배분 + 몬테카를로 2,000회 — 신호 축적 시 오차 ±11.3→±3.6%p.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150">
                <a:solidFill>
                  <a:srgbClr val="8A8275"/>
                </a:solidFill>
                <a:latin typeface="Noto Sans KR"/>
                <a:ea typeface="Noto Sans KR"/>
              </a:rPr>
              <a:t>모든 수치는 공개 데이터와 공개 스크립트로 재현됩니다. 원문 근거는 최종보고서(추가자료)에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03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모듈 A — 재정 공급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집행률의 렌즈로는 이 정책군이 항상 만점입니다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05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3600">
                <a:solidFill>
                  <a:srgbClr val="1C1914"/>
                </a:solidFill>
                <a:latin typeface="IBM Plex Mono SemiBold"/>
                <a:ea typeface="Noto Sans KR"/>
              </a:rPr>
              <a:t>68.9</a:t>
            </a:r>
            <a:r>
              <a:rPr b="0" sz="1400">
                <a:solidFill>
                  <a:srgbClr val="8A8275"/>
                </a:solidFill>
                <a:latin typeface="IBM Plex Mono"/>
                <a:ea typeface="Noto Sans KR"/>
              </a:rPr>
              <a:t>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0008"/>
            <a:ext cx="3200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정책서민금융 재원 중 세출예산·기금</a:t>
            </a:r>
          </a:p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밖 비중(2022~25 누적) — 집행률이</a:t>
            </a:r>
          </a:p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계산조차 되지 않는 구간입니다.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700">
                <a:solidFill>
                  <a:srgbClr val="1C1914"/>
                </a:solidFill>
                <a:latin typeface="IBM Plex Mono SemiBold"/>
                <a:ea typeface="Noto Sans KR"/>
              </a:rPr>
              <a:t>100.0</a:t>
            </a:r>
            <a:r>
              <a:rPr b="0" sz="2200">
                <a:solidFill>
                  <a:srgbClr val="A63A26"/>
                </a:solidFill>
                <a:latin typeface="IBM Plex Mono SemiBold"/>
                <a:ea typeface="Noto Sans KR"/>
              </a:rPr>
              <a:t> → </a:t>
            </a:r>
            <a:r>
              <a:rPr b="0" sz="2700">
                <a:solidFill>
                  <a:srgbClr val="1C1914"/>
                </a:solidFill>
                <a:latin typeface="IBM Plex Mono SemiBold"/>
                <a:ea typeface="Noto Sans KR"/>
              </a:rPr>
              <a:t>10.0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같은 재원의 집행률(%)과 공급 강도</a:t>
            </a:r>
          </a:p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(100가구당 건수, 2024). 만점 뒤에</a:t>
            </a:r>
          </a:p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낮은 도달이 숨어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공급 사슬 어디에도 실패가 기록되지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않지만, 공급이 자격 가구에 닿은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비율은 </a:t>
            </a:r>
            <a:r>
              <a:rPr b="1" sz="1250">
                <a:solidFill>
                  <a:srgbClr val="1C1914"/>
                </a:solidFill>
                <a:latin typeface="Noto Sans KR"/>
                <a:ea typeface="Noto Sans KR"/>
              </a:rPr>
              <a:t>11~15%</a:t>
            </a: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에 그칩니다.</a:t>
            </a:r>
          </a:p>
        </p:txBody>
      </p:sp>
      <p:pic>
        <p:nvPicPr>
          <p:cNvPr id="12" name="Picture 11" descr="pinpoint_execution_tak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32106"/>
            <a:ext cx="7406640" cy="4291066"/>
          </a:xfrm>
          <a:prstGeom prst="rect">
            <a:avLst/>
          </a:prstGeom>
          <a:ln w="12700">
            <a:solidFill>
              <a:srgbClr val="C9C2B2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03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모듈 B — 자격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자격 가구를 직접 세니, 닿지 않는 구간이 보입니다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06 / 14</a:t>
            </a:r>
          </a:p>
        </p:txBody>
      </p:sp>
      <p:pic>
        <p:nvPicPr>
          <p:cNvPr id="7" name="Picture 6" descr="takeup_by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273" y="1737360"/>
            <a:ext cx="9452404" cy="3246120"/>
          </a:xfrm>
          <a:prstGeom prst="rect">
            <a:avLst/>
          </a:prstGeom>
          <a:ln w="12700">
            <a:solidFill>
              <a:srgbClr val="C9C2B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120640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공급 실적은 447만 건 · 33.4조 원</a:t>
            </a:r>
            <a:r>
              <a:rPr b="0" sz="1400">
                <a:solidFill>
                  <a:srgbClr val="4A443A"/>
                </a:solidFill>
                <a:latin typeface="Noto Sans KR"/>
                <a:ea typeface="Noto Sans KR"/>
              </a:rPr>
              <a:t> — 역대 최대입니다.</a:t>
            </a:r>
          </a:p>
          <a:p>
            <a:pPr algn="l">
              <a:lnSpc>
                <a:spcPct val="130000"/>
              </a:lnSpc>
            </a:pPr>
            <a:r>
              <a:rPr b="0" sz="1400">
                <a:solidFill>
                  <a:srgbClr val="4A443A"/>
                </a:solidFill>
                <a:latin typeface="Noto Sans KR"/>
                <a:ea typeface="Noto Sans KR"/>
              </a:rPr>
              <a:t>그러나 공급 강도는 미소금융 4.0건 · 소액생계비 6.8건 ·</a:t>
            </a:r>
          </a:p>
          <a:p>
            <a:pPr algn="l">
              <a:lnSpc>
                <a:spcPct val="130000"/>
              </a:lnSpc>
            </a:pPr>
            <a:r>
              <a:rPr b="0" sz="1400">
                <a:solidFill>
                  <a:srgbClr val="4A443A"/>
                </a:solidFill>
                <a:latin typeface="Noto Sans KR"/>
                <a:ea typeface="Noto Sans KR"/>
              </a:rPr>
              <a:t>햇살론 계열 10~12건(2024, 100가구당)으로 갈립니다.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12064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00">
                <a:solidFill>
                  <a:srgbClr val="8A8275"/>
                </a:solidFill>
                <a:latin typeface="Noto Sans KR"/>
                <a:ea typeface="Noto Sans KR"/>
              </a:rPr>
              <a:t>신용 프록시에 따라 자격 가구가 구간으로 움직여(A~C안)</a:t>
            </a:r>
          </a:p>
          <a:p>
            <a:pPr algn="l">
              <a:lnSpc>
                <a:spcPct val="130000"/>
              </a:lnSpc>
            </a:pPr>
            <a:r>
              <a:rPr b="0" sz="1200">
                <a:solidFill>
                  <a:srgbClr val="8A8275"/>
                </a:solidFill>
                <a:latin typeface="Noto Sans KR"/>
                <a:ea typeface="Noto Sans KR"/>
              </a:rPr>
              <a:t>절대 수준보다 상품 간·연도 간 비교로 읽습니다.</a:t>
            </a:r>
          </a:p>
          <a:p>
            <a:pPr algn="l">
              <a:lnSpc>
                <a:spcPct val="130000"/>
              </a:lnSpc>
            </a:pPr>
            <a:r>
              <a:rPr b="0" sz="1200">
                <a:solidFill>
                  <a:srgbClr val="8A8275"/>
                </a:solidFill>
                <a:latin typeface="Noto Sans KR"/>
                <a:ea typeface="Noto Sans KR"/>
              </a:rPr>
              <a:t>유량(연간 건수)÷저량(가구)이라 100건이 만점도 아닙니다.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03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모듈 B — 신청주의의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병목은 자격도 심사도 아닌 '인지'였습니다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07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4200">
                <a:solidFill>
                  <a:srgbClr val="1C1914"/>
                </a:solidFill>
                <a:latin typeface="IBM Plex Mono SemiBold"/>
                <a:ea typeface="Noto Sans KR"/>
              </a:rPr>
              <a:t>79~90</a:t>
            </a:r>
            <a:r>
              <a:rPr b="0" sz="1500">
                <a:solidFill>
                  <a:srgbClr val="8A8275"/>
                </a:solidFill>
                <a:latin typeface="IBM Plex Mono"/>
                <a:ea typeface="Noto Sans KR"/>
              </a:rPr>
              <a:t>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근로장려금 안내를 인지한 가구의 신청률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4200">
                <a:solidFill>
                  <a:srgbClr val="A63A26"/>
                </a:solidFill>
                <a:latin typeface="IBM Plex Mono SemiBold"/>
                <a:ea typeface="Noto Sans KR"/>
              </a:rPr>
              <a:t>0.1</a:t>
            </a:r>
            <a:r>
              <a:rPr b="0" sz="1500">
                <a:solidFill>
                  <a:srgbClr val="8A8275"/>
                </a:solidFill>
                <a:latin typeface="IBM Plex Mono"/>
                <a:ea typeface="Noto Sans KR"/>
              </a:rPr>
              <a:t>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인지하지 못한 가구의 신청률</a:t>
            </a:r>
          </a:p>
          <a:p>
            <a:pPr algn="l">
              <a:lnSpc>
                <a:spcPct val="125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(소득요건 충족 가구로 좁혀도 0.00~0.14%)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신청하면 96% 내외가 받습니다.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안내 인지의 병목은 자영업·비경활 가구주에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몰립니다(인지 승산 0.43배·0.16배). 격차는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자기보고 기준이라 상한으로 읽습니다.</a:t>
            </a:r>
          </a:p>
        </p:txBody>
      </p:sp>
      <p:pic>
        <p:nvPicPr>
          <p:cNvPr id="12" name="Picture 11" descr="nastab_eitc_notice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102" y="1783080"/>
            <a:ext cx="7224074" cy="4343400"/>
          </a:xfrm>
          <a:prstGeom prst="rect">
            <a:avLst/>
          </a:prstGeom>
          <a:ln w="12700">
            <a:solidFill>
              <a:srgbClr val="C9C2B2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03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모듈 C — 사각지대 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수요는 뭉쳐 있는데, 공급 배치는 따라가지 못합니다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08 / 14</a:t>
            </a:r>
          </a:p>
        </p:txBody>
      </p:sp>
      <p:pic>
        <p:nvPicPr>
          <p:cNvPr id="7" name="Picture 6" descr="demand_acces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17" y="1737360"/>
            <a:ext cx="6683684" cy="4480560"/>
          </a:xfrm>
          <a:prstGeom prst="rect">
            <a:avLst/>
          </a:prstGeom>
          <a:ln w="12700">
            <a:solidFill>
              <a:srgbClr val="C9C2B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18120" y="19202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취약 수요는 공간적으로 군집합니다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b="0" sz="1200">
                <a:solidFill>
                  <a:srgbClr val="4A443A"/>
                </a:solidFill>
                <a:latin typeface="IBM Plex Mono"/>
                <a:ea typeface="Noto Sans KR"/>
              </a:rPr>
              <a:t>Moran's I 0.245 (p=0.044)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공급 접근성은 무작위입니다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b="0" sz="1200">
                <a:solidFill>
                  <a:srgbClr val="4A443A"/>
                </a:solidFill>
                <a:latin typeface="IBM Plex Mono"/>
                <a:ea typeface="Noto Sans KR"/>
              </a:rPr>
              <a:t>밀도 지표 p=0.313</a:t>
            </a: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 — 수요의 지도와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공급의 지도가 서로 다릅니다.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206240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'접근성만 보면 우수'인 지역이 도달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관점에서는 사각인 사분면이 존재합니다.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이 격자가 모듈 E 재배분의 입력이 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03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모듈 D — 전달체계 준실험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문턱을 낮추자 잠재 수요가 즉시 나타났습니다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09 / 14</a:t>
            </a:r>
          </a:p>
        </p:txBody>
      </p:sp>
      <p:pic>
        <p:nvPicPr>
          <p:cNvPr id="7" name="Picture 6" descr="its_supply_br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10" y="1737360"/>
            <a:ext cx="5998299" cy="4480560"/>
          </a:xfrm>
          <a:prstGeom prst="rect">
            <a:avLst/>
          </a:prstGeom>
          <a:ln w="12700">
            <a:solidFill>
              <a:srgbClr val="C9C2B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18120" y="192024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3600">
                <a:solidFill>
                  <a:srgbClr val="1C1914"/>
                </a:solidFill>
                <a:latin typeface="IBM Plex Mono SemiBold"/>
                <a:ea typeface="Noto Sans KR"/>
              </a:rPr>
              <a:t>+1.7</a:t>
            </a:r>
            <a:r>
              <a:rPr b="1" sz="1500">
                <a:solidFill>
                  <a:srgbClr val="8A8275"/>
                </a:solidFill>
                <a:latin typeface="Noto Sans KR"/>
                <a:ea typeface="Noto Sans KR"/>
              </a:rPr>
              <a:t>만 건/월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578608"/>
            <a:ext cx="3840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소액생계비대출 도입(2023.3) 시점</a:t>
            </a:r>
          </a:p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서금원 직접취급 공급 점프(ITS, p&lt;0.001)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429000"/>
            <a:ext cx="38404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점프에는 숨어 있던 수요의 현재화와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채널 간 이동, 유발 수요가 섞여 있어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'기술적 연관'으로 절제해 보고합니다.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/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전국 통합지원센터 50곳의 개소연월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데이터셋을 자체 구축해 공개합니다 —</a:t>
            </a:r>
          </a:p>
          <a:p>
            <a:pPr algn="l">
              <a:lnSpc>
                <a:spcPct val="130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접점 효과를 검증할 첫 재료입니다.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03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모듈 E — 재배분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신호가 쌓이면 배분이 좋아집니다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10 / 14</a:t>
            </a:r>
          </a:p>
        </p:txBody>
      </p:sp>
      <p:pic>
        <p:nvPicPr>
          <p:cNvPr id="7" name="Picture 6" descr="reallocation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69" y="1737360"/>
            <a:ext cx="6291260" cy="4480560"/>
          </a:xfrm>
          <a:prstGeom prst="rect">
            <a:avLst/>
          </a:prstGeom>
          <a:ln w="12700">
            <a:solidFill>
              <a:srgbClr val="C9C2B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1828800"/>
            <a:ext cx="4069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1" sz="1350">
                <a:solidFill>
                  <a:srgbClr val="1C1914"/>
                </a:solidFill>
                <a:latin typeface="Noto Sans KR"/>
                <a:ea typeface="Noto Sans KR"/>
              </a:rPr>
              <a:t>인구보정 CGI × 취약수요 규모</a:t>
            </a:r>
          </a:p>
          <a:p>
            <a:pPr algn="l">
              <a:lnSpc>
                <a:spcPct val="130000"/>
              </a:lnSpc>
            </a:pPr>
            <a:r>
              <a:rPr b="0" sz="1300">
                <a:solidFill>
                  <a:srgbClr val="4A443A"/>
                </a:solidFill>
                <a:latin typeface="Noto Sans KR"/>
                <a:ea typeface="Noto Sans KR"/>
              </a:rPr>
              <a:t>로 가중 배분하면 서울 12.0% · 경기 11.5%</a:t>
            </a:r>
          </a:p>
          <a:p>
            <a:pPr algn="l">
              <a:lnSpc>
                <a:spcPct val="130000"/>
              </a:lnSpc>
            </a:pPr>
            <a:r>
              <a:rPr b="0" sz="1300">
                <a:solidFill>
                  <a:srgbClr val="4A443A"/>
                </a:solidFill>
                <a:latin typeface="Noto Sans KR"/>
                <a:ea typeface="Noto Sans KR"/>
              </a:rPr>
              <a:t>· 부산 10.3% 순으로 재배분됩니다.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291840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600">
                <a:solidFill>
                  <a:srgbClr val="1C1914"/>
                </a:solidFill>
                <a:latin typeface="IBM Plex Mono SemiBold"/>
                <a:ea typeface="Noto Sans KR"/>
              </a:rPr>
              <a:t>±11.3</a:t>
            </a:r>
            <a:r>
              <a:rPr b="0" sz="2100">
                <a:solidFill>
                  <a:srgbClr val="A63A26"/>
                </a:solidFill>
                <a:latin typeface="IBM Plex Mono SemiBold"/>
                <a:ea typeface="Noto Sans KR"/>
              </a:rPr>
              <a:t> → </a:t>
            </a:r>
            <a:r>
              <a:rPr b="0" sz="2600">
                <a:solidFill>
                  <a:srgbClr val="1C1914"/>
                </a:solidFill>
                <a:latin typeface="IBM Plex Mono SemiBold"/>
                <a:ea typeface="Noto Sans KR"/>
              </a:rPr>
              <a:t>±3.6</a:t>
            </a:r>
            <a:r>
              <a:rPr b="0" sz="1300">
                <a:solidFill>
                  <a:srgbClr val="8A8275"/>
                </a:solidFill>
                <a:latin typeface="IBM Plex Mono"/>
                <a:ea typeface="Noto Sans KR"/>
              </a:rPr>
              <a:t> %p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913632"/>
            <a:ext cx="4069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포용이 신호 축적 시 시도별 미매칭률</a:t>
            </a:r>
          </a:p>
          <a:p>
            <a:pPr algn="l">
              <a:lnSpc>
                <a:spcPct val="125000"/>
              </a:lnSpc>
            </a:pPr>
            <a:r>
              <a:rPr b="0" sz="1150">
                <a:solidFill>
                  <a:srgbClr val="4A443A"/>
                </a:solidFill>
                <a:latin typeface="Noto Sans KR"/>
                <a:ea typeface="Noto Sans KR"/>
              </a:rPr>
              <a:t>추정 정밀도(몬테카를로 2,000회/시나리오)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754880"/>
            <a:ext cx="4069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00">
                <a:solidFill>
                  <a:srgbClr val="8A8275"/>
                </a:solidFill>
                <a:latin typeface="Noto Sans KR"/>
                <a:ea typeface="Noto Sans KR"/>
              </a:rPr>
              <a:t>오배분율 6.9%→4.3%는 가정을 내장한</a:t>
            </a:r>
          </a:p>
          <a:p>
            <a:pPr algn="l">
              <a:lnSpc>
                <a:spcPct val="130000"/>
              </a:lnSpc>
            </a:pPr>
            <a:r>
              <a:rPr b="0" sz="1200">
                <a:solidFill>
                  <a:srgbClr val="8A8275"/>
                </a:solidFill>
                <a:latin typeface="Noto Sans KR"/>
                <a:ea typeface="Noto Sans KR"/>
              </a:rPr>
              <a:t>시나리오의 예시값입니다. 재배분 비중은</a:t>
            </a:r>
          </a:p>
          <a:p>
            <a:pPr algn="l">
              <a:lnSpc>
                <a:spcPct val="130000"/>
              </a:lnSpc>
            </a:pPr>
            <a:r>
              <a:rPr b="0" sz="1200">
                <a:solidFill>
                  <a:srgbClr val="8A8275"/>
                </a:solidFill>
                <a:latin typeface="Noto Sans KR"/>
                <a:ea typeface="Noto Sans KR"/>
              </a:rPr>
              <a:t>총량/밀도 규범 선택에 의존합니다.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04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프로토타입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새 앱이 아니라, '잇다' 위에 얹는 신호 모듈입니다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11 / 14</a:t>
            </a:r>
          </a:p>
        </p:txBody>
      </p:sp>
      <p:pic>
        <p:nvPicPr>
          <p:cNvPr id="7" name="Picture 6" descr="fig17_hom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75" y="1737360"/>
            <a:ext cx="1838009" cy="3977639"/>
          </a:xfrm>
          <a:prstGeom prst="rect">
            <a:avLst/>
          </a:prstGeom>
          <a:ln w="12700">
            <a:solidFill>
              <a:srgbClr val="C9C2B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7607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b="0" sz="1000">
                <a:solidFill>
                  <a:srgbClr val="8A8275"/>
                </a:solidFill>
                <a:latin typeface="Noto Sans KR"/>
                <a:ea typeface="Noto Sans KR"/>
              </a:rPr>
              <a:t>홈 — 잇다 UI 미러</a:t>
            </a:r>
          </a:p>
        </p:txBody>
      </p:sp>
      <p:pic>
        <p:nvPicPr>
          <p:cNvPr id="9" name="Picture 8" descr="fig16_chat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03" y="1737360"/>
            <a:ext cx="1838009" cy="3977639"/>
          </a:xfrm>
          <a:prstGeom prst="rect">
            <a:avLst/>
          </a:prstGeom>
          <a:ln w="12700">
            <a:solidFill>
              <a:srgbClr val="C9C2B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944368" y="57607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b="0" sz="1000">
                <a:solidFill>
                  <a:srgbClr val="8A8275"/>
                </a:solidFill>
                <a:latin typeface="Noto Sans KR"/>
                <a:ea typeface="Noto Sans KR"/>
              </a:rPr>
              <a:t>상담 — 미매칭 사유 기록</a:t>
            </a:r>
          </a:p>
        </p:txBody>
      </p:sp>
      <p:pic>
        <p:nvPicPr>
          <p:cNvPr id="11" name="Picture 10" descr="fig18_go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2851070"/>
            <a:ext cx="2240280" cy="1750218"/>
          </a:xfrm>
          <a:prstGeom prst="rect">
            <a:avLst/>
          </a:prstGeom>
          <a:ln w="12700">
            <a:solidFill>
              <a:srgbClr val="C9C2B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340096" y="57607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b="0" sz="1000">
                <a:solidFill>
                  <a:srgbClr val="8A8275"/>
                </a:solidFill>
                <a:latin typeface="Noto Sans KR"/>
                <a:ea typeface="Noto Sans KR"/>
              </a:rPr>
              <a:t>정부 대시보드 — 조기경보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3794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b="1" sz="1350">
                <a:solidFill>
                  <a:srgbClr val="1C1914"/>
                </a:solidFill>
                <a:latin typeface="Noto Sans KR"/>
                <a:ea typeface="Noto Sans KR"/>
              </a:rPr>
              <a:t>미매칭 사유를 표준 코드로 기록합니다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자격 미달인지, 서류·절차 장벽인지, 맞는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상품이 없는지가 익명 신호로 쌓입니다.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/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b="1" sz="1350">
                <a:solidFill>
                  <a:srgbClr val="1C1914"/>
                </a:solidFill>
                <a:latin typeface="Noto Sans KR"/>
                <a:ea typeface="Noto Sans KR"/>
              </a:rPr>
              <a:t>신호는 조기경보로 흐릅니다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시도별 미매칭률·수요 급증이 정부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대시보드에 실시간 집계됩니다.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/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b="1" sz="1350">
                <a:solidFill>
                  <a:srgbClr val="A63A26"/>
                </a:solidFill>
                <a:latin typeface="Noto Sans KR"/>
                <a:ea typeface="Noto Sans KR"/>
              </a:rPr>
              <a:t>현장 시연 가능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b="0" sz="1150">
                <a:solidFill>
                  <a:srgbClr val="4A443A"/>
                </a:solidFill>
                <a:latin typeface="IBM Plex Mono"/>
                <a:ea typeface="Noto Sans KR"/>
              </a:rPr>
              <a:t>poyong.ai-ve.uk</a:t>
            </a:r>
            <a:r>
              <a:rPr b="0" sz="1200">
                <a:solidFill>
                  <a:srgbClr val="4A443A"/>
                </a:solidFill>
                <a:latin typeface="Noto Sans KR"/>
                <a:ea typeface="Noto Sans KR"/>
              </a:rPr>
              <a:t> (웹) · Android APK(매뉴얼 링크)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623560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950">
                <a:solidFill>
                  <a:srgbClr val="8A8275"/>
                </a:solidFill>
                <a:latin typeface="Noto Sans KR"/>
                <a:ea typeface="Noto Sans KR"/>
              </a:rPr>
              <a:t>'서민금융 잇다' UI를 참고한 연구용 시연으로</a:t>
            </a:r>
          </a:p>
          <a:p>
            <a:pPr algn="l">
              <a:lnSpc>
                <a:spcPct val="125000"/>
              </a:lnSpc>
            </a:pPr>
            <a:r>
              <a:rPr b="0" sz="950">
                <a:solidFill>
                  <a:srgbClr val="8A8275"/>
                </a:solidFill>
                <a:latin typeface="Noto Sans KR"/>
                <a:ea typeface="Noto Sans KR"/>
              </a:rPr>
              <a:t>서민금융진흥원과 무관하며 실제 금융상품</a:t>
            </a:r>
          </a:p>
          <a:p>
            <a:pPr algn="l">
              <a:lnSpc>
                <a:spcPct val="125000"/>
              </a:lnSpc>
            </a:pPr>
            <a:r>
              <a:rPr b="0" sz="950">
                <a:solidFill>
                  <a:srgbClr val="8A8275"/>
                </a:solidFill>
                <a:latin typeface="Noto Sans KR"/>
                <a:ea typeface="Noto Sans KR"/>
              </a:rPr>
              <a:t>신청·알선 기능이 없습니다.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05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정책 제언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집행률 옆에 도달 지표를 나란히 놓읍시다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200">
                <a:solidFill>
                  <a:srgbClr val="A63A26"/>
                </a:solidFill>
                <a:latin typeface="IBM Plex Mono SemiBold"/>
                <a:ea typeface="Noto Sans K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013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500">
                <a:solidFill>
                  <a:srgbClr val="1C1914"/>
                </a:solidFill>
                <a:latin typeface="Noto Sans KR"/>
                <a:ea typeface="Noto Sans KR"/>
              </a:rPr>
              <a:t>도달 지표의 재정 성과지표 병행 도입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급여성 제도는 수급률, 대출·보증 상품은 연간 공급 강도로 — 집행률·공급액과 나란히 5층 지표 체계를 구성합니다.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642616"/>
            <a:ext cx="10360152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0632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200">
                <a:solidFill>
                  <a:srgbClr val="A63A26"/>
                </a:solidFill>
                <a:latin typeface="IBM Plex Mono SemiBold"/>
                <a:ea typeface="Noto Sans K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8892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500">
                <a:solidFill>
                  <a:srgbClr val="1C1914"/>
                </a:solidFill>
                <a:latin typeface="Noto Sans KR"/>
                <a:ea typeface="Noto Sans KR"/>
              </a:rPr>
              <a:t>기존 전달체계에 미매칭 사유 표준화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3639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새 앱 신설이 아니라 '잇다'와 전국 50여 통합지원센터의 상담 과정에 표준 코드 기록을 얹습니다 — 중복 투자 없이.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630168"/>
            <a:ext cx="10360152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5818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200">
                <a:solidFill>
                  <a:srgbClr val="A63A26"/>
                </a:solidFill>
                <a:latin typeface="IBM Plex Mono SemiBold"/>
                <a:ea typeface="Noto Sans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76472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500">
                <a:solidFill>
                  <a:srgbClr val="1C1914"/>
                </a:solidFill>
                <a:latin typeface="Noto Sans KR"/>
                <a:ea typeface="Noto Sans KR"/>
              </a:rPr>
              <a:t>미매칭 신호 기반 조기경보·재배분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23944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신호가 쌓이면 시도별 수요 변화를 조기 감지하고, 사각지대 우선 배분의 근거로 씁니다(모듈 E의 구조).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617720"/>
            <a:ext cx="10360152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4573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2200">
                <a:solidFill>
                  <a:srgbClr val="A63A26"/>
                </a:solidFill>
                <a:latin typeface="IBM Plex Mono SemiBold"/>
                <a:ea typeface="Noto Sans K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764024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500">
                <a:solidFill>
                  <a:srgbClr val="1C1914"/>
                </a:solidFill>
                <a:latin typeface="Noto Sans KR"/>
                <a:ea typeface="Noto Sans KR"/>
              </a:rPr>
              <a:t>상품별 도달 목표치와 공개 점검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111496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공급 총액 목표에 더해 상품별 공급 강도 목표를 두고, 금융위 포용금융 평가 체계에서 정기 점검합니다.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200" spc="250">
                <a:solidFill>
                  <a:srgbClr val="A63A26"/>
                </a:solidFill>
                <a:latin typeface="IBM Plex Mono SemiBold"/>
                <a:ea typeface="Noto Sans KR"/>
              </a:rPr>
              <a:t>06</a:t>
            </a:r>
            <a:r>
              <a:rPr b="0" sz="1100" spc="250">
                <a:solidFill>
                  <a:srgbClr val="8A8275"/>
                </a:solidFill>
                <a:latin typeface="IBM Plex Mono"/>
                <a:ea typeface="Noto Sans KR"/>
              </a:rPr>
              <a:t>  ·  </a:t>
            </a:r>
            <a:r>
              <a:rPr b="1" sz="1100" spc="250">
                <a:solidFill>
                  <a:srgbClr val="8A8275"/>
                </a:solidFill>
                <a:latin typeface="Noto Sans KR"/>
                <a:ea typeface="Noto Sans KR"/>
              </a:rPr>
              <a:t>한계와 연구 윤리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b="1" sz="2400">
                <a:solidFill>
                  <a:srgbClr val="1C1914"/>
                </a:solidFill>
                <a:latin typeface="Noto Serif KR"/>
                <a:ea typeface="Noto Serif KR"/>
              </a:rPr>
              <a:t>숫자의 눈금을 정직하게 밝힙니다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b="0" sz="900">
                <a:solidFill>
                  <a:srgbClr val="8A8275"/>
                </a:solidFill>
                <a:latin typeface="IBM Plex Mono"/>
                <a:ea typeface="Noto Sans KR"/>
              </a:rPr>
              <a:t>13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신용 프록시는 구간입니다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801368"/>
            <a:ext cx="7178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조사에 없는 신용점수를 세 프록시로 근사해, 소액생계비 공급 강도는 6.2~64.7건(10배)까지 움직입니다. 본문은 C안 기준·구간 병기입니다.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연관이지 인과가 아닙니다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15768"/>
            <a:ext cx="7178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접점 점프(+1.7만 건)와 안내 인지 격차(79~90% vs 0.1%)는 연관·상한이며, 접점을 만들면 도달이 몇 %p 오른다는 인과 추정이 아닙니다.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1188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기대효과는 실측 눈금 안에서 읽습니다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630168"/>
            <a:ext cx="7178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같은 기제인 복지멤버십의 행정 실측 — 안내 대비 자격획득 10.4%, 자발 가입 2.5% — 이 포용이 기대효과의 현실 눈금입니다.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11094415" cy="11430"/>
          </a:xfrm>
          <a:prstGeom prst="rect">
            <a:avLst/>
          </a:prstGeom>
          <a:solidFill>
            <a:srgbClr val="D9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1400">
                <a:solidFill>
                  <a:srgbClr val="1C1914"/>
                </a:solidFill>
                <a:latin typeface="Noto Sans KR"/>
                <a:ea typeface="Noto Sans KR"/>
              </a:rPr>
              <a:t>시차와 자기보고를 숨기지 않습니다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544568"/>
            <a:ext cx="7178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250">
                <a:solidFill>
                  <a:srgbClr val="4A443A"/>
                </a:solidFill>
                <a:latin typeface="Noto Sans KR"/>
                <a:ea typeface="Noto Sans KR"/>
              </a:rPr>
              <a:t>분모·분자의 최대 1년 시차는 보정 대신 해석 수위를 낮췄고, 자기보고 변수의 회상 편의는 격차의 상한 해석으로 처리했습니다.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150">
                <a:solidFill>
                  <a:srgbClr val="8A8275"/>
                </a:solidFill>
                <a:latin typeface="Noto Sans KR"/>
                <a:ea typeface="Noto Sans KR"/>
              </a:rPr>
              <a:t>모든 산출은 공개 데이터·공개 스크립트로 재현 가능하며, 개인정보는 다루지 않았습니다.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9994392" cy="30480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421892"/>
            <a:ext cx="9994392" cy="9525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b="1" sz="3800">
                <a:solidFill>
                  <a:srgbClr val="1C1914"/>
                </a:solidFill>
                <a:latin typeface="Noto Serif KR"/>
                <a:ea typeface="Noto Serif KR"/>
              </a:rPr>
              <a:t>재지 않으면, 닿지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9994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b="1" sz="1800">
                <a:solidFill>
                  <a:srgbClr val="4A443A"/>
                </a:solidFill>
                <a:latin typeface="Noto Serif KR"/>
                <a:ea typeface="Noto Serif KR"/>
              </a:rPr>
              <a:t>집행률을 넘어 </a:t>
            </a:r>
            <a:r>
              <a:rPr b="1" sz="1800">
                <a:solidFill>
                  <a:srgbClr val="A63A26"/>
                </a:solidFill>
                <a:latin typeface="Noto Serif KR"/>
                <a:ea typeface="Noto Serif KR"/>
              </a:rPr>
              <a:t>도달 지표</a:t>
            </a:r>
            <a:r>
              <a:rPr b="1" sz="1800">
                <a:solidFill>
                  <a:srgbClr val="4A443A"/>
                </a:solidFill>
                <a:latin typeface="Noto Serif KR"/>
                <a:ea typeface="Noto Serif KR"/>
              </a:rPr>
              <a:t>로 — 감사합니다.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1768" y="4343400"/>
            <a:ext cx="2194560" cy="12700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617720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b="1" sz="1250">
                <a:solidFill>
                  <a:srgbClr val="1C1914"/>
                </a:solidFill>
                <a:latin typeface="Noto Sans KR"/>
                <a:ea typeface="Noto Sans KR"/>
              </a:rPr>
              <a:t>팀 Voice2Policy  ·  김현호(팀장) · 이호진 · 신재원</a:t>
            </a:r>
          </a:p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b="0" sz="1100">
                <a:solidFill>
                  <a:srgbClr val="8A8275"/>
                </a:solidFill>
                <a:latin typeface="Noto Sans KR"/>
                <a:ea typeface="Noto Sans KR"/>
              </a:rPr>
              <a:t>추가자료  최종보고서 · 포용이 웹(poyong.ai-ve.uk) · 구동 매뉴얼(Android APK 링크 포함)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577840"/>
            <a:ext cx="9994392" cy="30480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5628131"/>
            <a:ext cx="9994392" cy="9525"/>
          </a:xfrm>
          <a:prstGeom prst="rect">
            <a:avLst/>
          </a:prstGeom>
          <a:solidFill>
            <a:srgbClr val="1C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