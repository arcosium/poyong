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320040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AECEE"/>
          </a:solidFill>
          <a:ln>
            <a:solidFill>
              <a:srgbClr val="F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3" y="338328"/>
            <a:ext cx="20939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94F55"/>
                </a:solidFill>
                <a:latin typeface="Pretendard"/>
              </a:rPr>
              <a:t>디자인 참고용 · 확인 후 삭제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01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02A"/>
                </a:solidFill>
                <a:latin typeface="Pretendard"/>
              </a:rPr>
              <a:t>이 발표가 남겨야 할 한 문장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26464"/>
            <a:ext cx="110642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F6B76"/>
                </a:solidFill>
                <a:latin typeface="Pretendard"/>
              </a:rPr>
              <a:t>분석 모듈의 개수보다, 심사위원의 기억에 남을 주장부터 고정합니다.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84248"/>
            <a:ext cx="6995160" cy="1170432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21992"/>
            <a:ext cx="6382512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457A7"/>
                </a:solidFill>
                <a:latin typeface="Pretendard"/>
              </a:rPr>
              <a:t>정책서민금융은 집행률로 관리되지만,
실제 성과는 필요한 사람에게 닿는가에서 갈립니다.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493008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2A"/>
                </a:solidFill>
                <a:latin typeface="Pretendard"/>
              </a:rPr>
              <a:t>심사위원이 가져가야 할 세 가지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58768"/>
            <a:ext cx="690372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집행률이 보지 못하는 측정 공백을 같은 재원·같은 연도로 수치화했다.</a:t>
            </a:r>
          </a:p>
          <a:p>
            <a:pPr>
              <a:spcAft>
                <a:spcPts val="900"/>
              </a:spcAft>
              <a:defRPr sz="14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자격 부족보다 인지와 접점에서 빠지는 구간이 크다는 증거를 연결했다.</a:t>
            </a:r>
          </a:p>
          <a:p>
            <a:pPr>
              <a:spcAft>
                <a:spcPts val="900"/>
              </a:spcAft>
              <a:defRPr sz="14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새 앱을 제안한 것이 아니라, 기존 상담에서 생기는 미매칭 신호를 재정 데이터로 바꾸자고 제안한다.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984248"/>
            <a:ext cx="3813048" cy="363931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240280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2A"/>
                </a:solidFill>
                <a:latin typeface="Pretendard"/>
              </a:rPr>
              <a:t>표현 원칙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651760"/>
            <a:ext cx="3246120" cy="2286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한 장에 결론 하나</a:t>
            </a:r>
          </a:p>
          <a:p>
            <a:pPr>
              <a:spcAft>
                <a:spcPts val="900"/>
              </a:spcAft>
              <a:defRPr sz="125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숫자를 먼저, 방법은 근거로</a:t>
            </a:r>
          </a:p>
          <a:p>
            <a:pPr>
              <a:spcAft>
                <a:spcPts val="900"/>
              </a:spcAft>
              <a:defRPr sz="125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관측·추정·시나리오를 색으로 구분</a:t>
            </a:r>
          </a:p>
          <a:p>
            <a:pPr>
              <a:spcAft>
                <a:spcPts val="900"/>
              </a:spcAft>
              <a:defRPr sz="125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연간 공급 강도를 ‘수급률’로 부르지 않기</a:t>
            </a:r>
          </a:p>
          <a:p>
            <a:pPr>
              <a:spcAft>
                <a:spcPts val="900"/>
              </a:spcAft>
              <a:defRPr sz="125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포용이를 서비스 홍보보다 측정 인프라로 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153912"/>
            <a:ext cx="10972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6"/>
                </a:solidFill>
                <a:latin typeface="Pretendard"/>
              </a:rPr>
              <a:t>색상 제안  관측값 파랑 · 측정 공백 빨강 · 개선안 초록 · 불확실성 회색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320040"/>
            <a:ext cx="2240280" cy="310896"/>
          </a:xfrm>
          <a:prstGeom prst="roundRect">
            <a:avLst>
              <a:gd name="adj" fmla="val 8000"/>
            </a:avLst>
          </a:prstGeom>
          <a:solidFill>
            <a:srgbClr val="FAECEE"/>
          </a:solidFill>
          <a:ln>
            <a:solidFill>
              <a:srgbClr val="F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3" y="338328"/>
            <a:ext cx="20939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94F55"/>
                </a:solidFill>
                <a:latin typeface="Pretendard"/>
              </a:rPr>
              <a:t>디자인 참고용 · 확인 후 삭제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014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02A"/>
                </a:solidFill>
                <a:latin typeface="Pretendard"/>
              </a:rPr>
              <a:t>발표는 분석 A~E가 아니라 네 장면으로 흐릅니다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26464"/>
            <a:ext cx="110642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F6B76"/>
                </a:solidFill>
                <a:latin typeface="Pretendard"/>
              </a:rPr>
              <a:t>15분 발표를 가정한 권장 흐름입니다. 실제 제한 시간에 맞춰 비례 조정합니다.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148840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FAECEE"/>
          </a:solidFill>
          <a:ln>
            <a:solidFill>
              <a:srgbClr val="F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2350008"/>
            <a:ext cx="384048" cy="384048"/>
          </a:xfrm>
          <a:prstGeom prst="ellipse">
            <a:avLst/>
          </a:prstGeom>
          <a:solidFill>
            <a:srgbClr val="C94F55"/>
          </a:solidFill>
          <a:ln w="12700">
            <a:solidFill>
              <a:srgbClr val="C94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3500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907792"/>
            <a:ext cx="21031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202A"/>
                </a:solidFill>
                <a:latin typeface="Pretendard"/>
              </a:rPr>
              <a:t>측정 공백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438144"/>
            <a:ext cx="210312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7202A"/>
                </a:solidFill>
                <a:latin typeface="Pretendard"/>
              </a:rPr>
              <a:t>집행률은 만점인데
도달은 보이지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19" y="4315968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4334255"/>
            <a:ext cx="9509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94F55"/>
                </a:solidFill>
                <a:latin typeface="Pretendard"/>
              </a:rPr>
              <a:t>본편 1~3</a:t>
            </a:r>
          </a:p>
        </p:txBody>
      </p:sp>
      <p:sp>
        <p:nvSpPr>
          <p:cNvPr id="14" name="Chevron 13"/>
          <p:cNvSpPr/>
          <p:nvPr/>
        </p:nvSpPr>
        <p:spPr>
          <a:xfrm>
            <a:off x="3182112" y="3200400"/>
            <a:ext cx="320040" cy="502920"/>
          </a:xfrm>
          <a:prstGeom prst="chevron">
            <a:avLst/>
          </a:prstGeom>
          <a:solidFill>
            <a:srgbClr val="F4F6F8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3280" y="2148840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84448" y="2350008"/>
            <a:ext cx="384048" cy="384048"/>
          </a:xfrm>
          <a:prstGeom prst="ellipse">
            <a:avLst/>
          </a:prstGeom>
          <a:solidFill>
            <a:srgbClr val="2457A7"/>
          </a:solidFill>
          <a:ln w="12700"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23500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907792"/>
            <a:ext cx="21031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202A"/>
                </a:solidFill>
                <a:latin typeface="Pretendard"/>
              </a:rPr>
              <a:t>데이터 증거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3438144"/>
            <a:ext cx="210312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7202A"/>
                </a:solidFill>
                <a:latin typeface="Pretendard"/>
              </a:rPr>
              <a:t>재원·자격·가구·공간에서
같은 공백을 확인한다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84448" y="4315968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334255"/>
            <a:ext cx="9509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457A7"/>
                </a:solidFill>
                <a:latin typeface="Pretendard"/>
              </a:rPr>
              <a:t>본편 4~11</a:t>
            </a:r>
          </a:p>
        </p:txBody>
      </p:sp>
      <p:sp>
        <p:nvSpPr>
          <p:cNvPr id="22" name="Chevron 21"/>
          <p:cNvSpPr/>
          <p:nvPr/>
        </p:nvSpPr>
        <p:spPr>
          <a:xfrm>
            <a:off x="6035040" y="3200400"/>
            <a:ext cx="320040" cy="502920"/>
          </a:xfrm>
          <a:prstGeom prst="chevron">
            <a:avLst/>
          </a:prstGeom>
          <a:solidFill>
            <a:srgbClr val="F4F6F8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6208" y="2148840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2350008"/>
            <a:ext cx="384048" cy="384048"/>
          </a:xfrm>
          <a:prstGeom prst="ellipse">
            <a:avLst/>
          </a:prstGeom>
          <a:solidFill>
            <a:srgbClr val="23856D"/>
          </a:solidFill>
          <a:ln w="12700">
            <a:solidFill>
              <a:srgbClr val="23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23500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2907792"/>
            <a:ext cx="21031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202A"/>
                </a:solidFill>
                <a:latin typeface="Pretendard"/>
              </a:rPr>
              <a:t>신호 설계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438144"/>
            <a:ext cx="210312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7202A"/>
                </a:solidFill>
                <a:latin typeface="Pretendard"/>
              </a:rPr>
              <a:t>상담 실패를 표준 코드로
기록해 관측치를 만든다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37376" y="4315968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334255"/>
            <a:ext cx="9509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3856D"/>
                </a:solidFill>
                <a:latin typeface="Pretendard"/>
              </a:rPr>
              <a:t>본편 12~14</a:t>
            </a:r>
          </a:p>
        </p:txBody>
      </p:sp>
      <p:sp>
        <p:nvSpPr>
          <p:cNvPr id="30" name="Chevron 29"/>
          <p:cNvSpPr/>
          <p:nvPr/>
        </p:nvSpPr>
        <p:spPr>
          <a:xfrm>
            <a:off x="8887968" y="3200400"/>
            <a:ext cx="320040" cy="502920"/>
          </a:xfrm>
          <a:prstGeom prst="chevron">
            <a:avLst/>
          </a:prstGeom>
          <a:solidFill>
            <a:srgbClr val="F4F6F8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89136" y="2148840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EFEAF8"/>
          </a:solidFill>
          <a:ln>
            <a:solidFill>
              <a:srgbClr val="E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90304" y="2350008"/>
            <a:ext cx="384048" cy="384048"/>
          </a:xfrm>
          <a:prstGeom prst="ellipse">
            <a:avLst/>
          </a:prstGeom>
          <a:solidFill>
            <a:srgbClr val="6D5AA7"/>
          </a:solidFill>
          <a:ln w="12700">
            <a:solidFill>
              <a:srgbClr val="6D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0304" y="2350008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0304" y="2907792"/>
            <a:ext cx="21031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202A"/>
                </a:solidFill>
                <a:latin typeface="Pretendard"/>
              </a:rPr>
              <a:t>정책 환류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3438144"/>
            <a:ext cx="210312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7202A"/>
                </a:solidFill>
                <a:latin typeface="Pretendard"/>
              </a:rPr>
              <a:t>도달 지표와 조기경보를
성과관리·배분에 넣는다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90304" y="4315968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63456" y="4334255"/>
            <a:ext cx="95097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D5AA7"/>
                </a:solidFill>
                <a:latin typeface="Pretendard"/>
              </a:rPr>
              <a:t>본편 15~17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" y="5230368"/>
            <a:ext cx="10972800" cy="694944"/>
          </a:xfrm>
          <a:prstGeom prst="roundRect">
            <a:avLst>
              <a:gd name="adj" fmla="val 8000"/>
            </a:avLst>
          </a:prstGeom>
          <a:solidFill>
            <a:srgbClr val="FFF5D9"/>
          </a:solidFill>
          <a:ln>
            <a:solidFill>
              <a:srgbClr val="FFF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422392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86D00"/>
                </a:solidFill>
                <a:latin typeface="Pretendard"/>
              </a:rPr>
              <a:t>디자인할 때 부탁할 것들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404104"/>
            <a:ext cx="83210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2A"/>
                </a:solidFill>
                <a:latin typeface="Pretendard"/>
              </a:rPr>
              <a:t>모듈명은 작은 내비게이션으로만 남기고, 슬라이드 제목은 모두 분석 결과를 말하는 문장으로 씁니다.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1 · 측정 공백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01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2A"/>
                </a:solidFill>
                <a:latin typeface="Pretendard"/>
              </a:rPr>
              <a:t>정책금융 재정의 사각지대 진단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집행률을 넘어, 필요한 사람에게 닿았는지를 묻습니다.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주제를 한 문장으로 고정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이 연구는 예산을 더 쓰자는 제안이 아니라, 이미 쓴 돈의 도달을 재자는 제안입니다.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흰 배경에 제목과 ‘집행→도달’ 전환만 크게. 사진·앱 목업은 표지에서 제외.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‘사각지대 해소 앱’처럼 서비스 소개로 시작하지 않습니다.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Voice2Policy 최종보고서 표지·연구초록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1874519"/>
            <a:ext cx="5212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7202A"/>
                </a:solidFill>
                <a:latin typeface="Pretendard"/>
              </a:rPr>
              <a:t>정책금융 재정의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42316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457A7"/>
                </a:solidFill>
                <a:latin typeface="Pretendard"/>
              </a:rPr>
              <a:t>사각지대 진단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37560"/>
            <a:ext cx="7955279" cy="7315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7955279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5F6B76"/>
                </a:solidFill>
                <a:latin typeface="Pretendard"/>
              </a:rPr>
              <a:t>집행률</a:t>
            </a:r>
            <a:r>
              <a:rPr sz="2000" b="0">
                <a:solidFill>
                  <a:srgbClr val="D7DDE3"/>
                </a:solidFill>
                <a:latin typeface="Pretendard"/>
              </a:rPr>
              <a:t>  →  </a:t>
            </a:r>
            <a:r>
              <a:rPr sz="2200" b="1">
                <a:solidFill>
                  <a:srgbClr val="C94F55"/>
                </a:solidFill>
                <a:latin typeface="Pretendard"/>
              </a:rPr>
              <a:t>도달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285232"/>
            <a:ext cx="81381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B76"/>
                </a:solidFill>
                <a:latin typeface="Pretendard"/>
              </a:rPr>
              <a:t>2026 대학(원)생 재정데이터 분석 경진대회 · 팀 Voice2Policy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1 · 문제 제기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02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2A"/>
                </a:solidFill>
                <a:latin typeface="Pretendard"/>
              </a:rPr>
              <a:t>돈은 다 나갔습니다. 닿았는지는 아무도 재지 않습니다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집행률은 포화됐고, 정책서민금융 재원의 다수는 그 지표조차 계산되지 않습니다.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청중의 문제의식 형성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문제는 집행 부족만이 아닙니다. 장부 밖 재원과 도달하지 못한 사람은 현재 성과지표에서 사라집니다.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세 숫자를 같은 크기의 카드로. 가운데 100.0%는 ‘만점’, 양옆은 ‘장부 밖’과 ‘사람에게 닿는 강도’로 대비.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2.1~12.0건을 수급률이나 미수급률로 바꾸지 않습니다.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§2.1 표 5-1, §2.3 표 6-1·6-2·7-1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737360"/>
            <a:ext cx="2743200" cy="2606040"/>
          </a:xfrm>
          <a:prstGeom prst="roundRect">
            <a:avLst>
              <a:gd name="adj" fmla="val 8000"/>
            </a:avLst>
          </a:prstGeom>
          <a:solidFill>
            <a:srgbClr val="FAECEE"/>
          </a:solidFill>
          <a:ln>
            <a:solidFill>
              <a:srgbClr val="F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1901952"/>
            <a:ext cx="2414016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C94F55"/>
                </a:solidFill>
                <a:latin typeface="Pretendard"/>
              </a:rPr>
              <a:t>68.9%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2487168"/>
            <a:ext cx="24140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A"/>
                </a:solidFill>
                <a:latin typeface="Pretendard"/>
              </a:rPr>
              <a:t>정책서민금융 재원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2788920"/>
            <a:ext cx="2414016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6"/>
                </a:solidFill>
                <a:latin typeface="Pretendard"/>
              </a:rPr>
              <a:t>2022~2025 누계 세출예산·기금운용계획 밖 비중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1737360"/>
            <a:ext cx="2743200" cy="260604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9312" y="1901952"/>
            <a:ext cx="2414016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57A7"/>
                </a:solidFill>
                <a:latin typeface="Pretendard"/>
              </a:rP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9312" y="2487168"/>
            <a:ext cx="24140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A"/>
                </a:solidFill>
                <a:latin typeface="Pretendard"/>
              </a:rPr>
              <a:t>같은 재원의 집행률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9312" y="2788920"/>
            <a:ext cx="2414016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6"/>
                </a:solidFill>
                <a:latin typeface="Pretendard"/>
              </a:rPr>
              <a:t>복권기금 세부사업 2개, 2022~2024년 연속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737360"/>
            <a:ext cx="2743200" cy="2606040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1" y="1901952"/>
            <a:ext cx="2414016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3856D"/>
                </a:solidFill>
                <a:latin typeface="Pretendard"/>
              </a:rPr>
              <a:t>2.1~12.0건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1" y="2487168"/>
            <a:ext cx="241401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A"/>
                </a:solidFill>
                <a:latin typeface="Pretendard"/>
              </a:rPr>
              <a:t>연간 공급 강도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1" y="2788920"/>
            <a:ext cx="2414016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6"/>
                </a:solidFill>
                <a:latin typeface="Pretendard"/>
              </a:rPr>
              <a:t>자격 가구 100가구당 신규 공급, 2024년 상품별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736592"/>
            <a:ext cx="8732520" cy="749808"/>
          </a:xfrm>
          <a:prstGeom prst="roundRect">
            <a:avLst>
              <a:gd name="adj" fmla="val 8000"/>
            </a:avLst>
          </a:prstGeom>
          <a:solidFill>
            <a:srgbClr val="17202A"/>
          </a:solidFill>
          <a:ln>
            <a:solidFill>
              <a:srgbClr val="17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928616"/>
            <a:ext cx="82296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Pretendard"/>
              </a:rPr>
              <a:t>집행률만 보면 ‘성공’이지만, 도달을 묻는 순간 성과의 순위가 달라집니다.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1 · 지표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03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2A"/>
                </a:solidFill>
                <a:latin typeface="Pretendard"/>
              </a:rPr>
              <a:t>성과 장부의 마지막 칸이 비어 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집행과 공급은 기록되지만, 자격자 가운데 누가 알고·신청하고·매칭됐는지는 이어지지 않습니다.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연구의 측정 대상을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연간 공급 강도는 완성된 커버리지가 아니라, 공개 데이터로 지금 계산할 수 있는 첫 번째 도달 눈금입니다.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왼쪽은 현행 장부 흐름, 오른쪽은 사람의 퍼널. 가운데 빈 연결부를 빨간 점선으로 표시.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유량÷저량인 공급 강도를 ‘자격자 중 몇 %가 받았다’고 읽지 않습니다.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§3.1 표 7-0, 제3장 정책 제언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627632"/>
            <a:ext cx="3931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457A7"/>
                </a:solidFill>
                <a:latin typeface="Pretendard"/>
              </a:rPr>
              <a:t>공급자 장부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057400"/>
            <a:ext cx="1115568" cy="621792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057400"/>
            <a:ext cx="1115568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57A7"/>
                </a:solidFill>
                <a:latin typeface="Pretendard"/>
              </a:rPr>
              <a:t>예산</a:t>
            </a:r>
          </a:p>
        </p:txBody>
      </p:sp>
      <p:sp>
        <p:nvSpPr>
          <p:cNvPr id="23" name="Chevron 22"/>
          <p:cNvSpPr/>
          <p:nvPr/>
        </p:nvSpPr>
        <p:spPr>
          <a:xfrm>
            <a:off x="1691640" y="2112264"/>
            <a:ext cx="320040" cy="5029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20824" y="2057400"/>
            <a:ext cx="1115568" cy="621792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20824" y="2057400"/>
            <a:ext cx="1115568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57A7"/>
                </a:solidFill>
                <a:latin typeface="Pretendard"/>
              </a:rPr>
              <a:t>집행</a:t>
            </a:r>
          </a:p>
        </p:txBody>
      </p:sp>
      <p:sp>
        <p:nvSpPr>
          <p:cNvPr id="26" name="Chevron 25"/>
          <p:cNvSpPr/>
          <p:nvPr/>
        </p:nvSpPr>
        <p:spPr>
          <a:xfrm>
            <a:off x="3209544" y="2112264"/>
            <a:ext cx="320040" cy="5029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38728" y="2057400"/>
            <a:ext cx="1115568" cy="621792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8728" y="2057400"/>
            <a:ext cx="1115568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57A7"/>
                </a:solidFill>
                <a:latin typeface="Pretendard"/>
              </a:rPr>
              <a:t>공급액·건수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953512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FAECEE"/>
          </a:solidFill>
          <a:ln w="16510">
            <a:solidFill>
              <a:srgbClr val="C94F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227832"/>
            <a:ext cx="7772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94F55"/>
                </a:solidFill>
                <a:latin typeface="Pretendard"/>
              </a:rPr>
              <a:t>빈칸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3127248"/>
            <a:ext cx="26060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02A"/>
                </a:solidFill>
                <a:latin typeface="Pretendard"/>
              </a:rPr>
              <a:t>실이용자 커버리지
정책대출 보유 가구 ÷ 자격 가구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7632" y="3867912"/>
            <a:ext cx="2606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4F55"/>
                </a:solidFill>
                <a:latin typeface="Pretendard"/>
              </a:rPr>
              <a:t>현재 공개 데이터로 산출 불가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1627632"/>
            <a:ext cx="4160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3856D"/>
                </a:solidFill>
                <a:latin typeface="Pretendard"/>
              </a:rPr>
              <a:t>사람의 도달 퍼널</a:t>
            </a:r>
          </a:p>
        </p:txBody>
      </p:sp>
      <p:sp>
        <p:nvSpPr>
          <p:cNvPr id="34" name="Oval 33"/>
          <p:cNvSpPr/>
          <p:nvPr/>
        </p:nvSpPr>
        <p:spPr>
          <a:xfrm>
            <a:off x="5010912" y="2057400"/>
            <a:ext cx="603504" cy="603504"/>
          </a:xfrm>
          <a:prstGeom prst="ellipse">
            <a:avLst/>
          </a:prstGeom>
          <a:solidFill>
            <a:srgbClr val="E8F5F1"/>
          </a:solidFill>
          <a:ln w="12700">
            <a:solidFill>
              <a:srgbClr val="23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2057400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3856D"/>
                </a:solidFill>
                <a:latin typeface="Pretendard"/>
              </a:rPr>
              <a:t>자격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14416" y="2359152"/>
            <a:ext cx="192024" cy="0"/>
          </a:xfrm>
          <a:prstGeom prst="line">
            <a:avLst/>
          </a:prstGeom>
          <a:ln w="1905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760720" y="2057400"/>
            <a:ext cx="603504" cy="603504"/>
          </a:xfrm>
          <a:prstGeom prst="ellipse">
            <a:avLst/>
          </a:prstGeom>
          <a:solidFill>
            <a:srgbClr val="FAECEE"/>
          </a:solidFill>
          <a:ln w="12700">
            <a:solidFill>
              <a:srgbClr val="C94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2057400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94F55"/>
                </a:solidFill>
                <a:latin typeface="Pretendard"/>
              </a:rPr>
              <a:t>인지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64224" y="2359152"/>
            <a:ext cx="192024" cy="0"/>
          </a:xfrm>
          <a:prstGeom prst="line">
            <a:avLst/>
          </a:prstGeom>
          <a:ln w="1905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510528" y="2057400"/>
            <a:ext cx="603504" cy="603504"/>
          </a:xfrm>
          <a:prstGeom prst="ellipse">
            <a:avLst/>
          </a:prstGeom>
          <a:solidFill>
            <a:srgbClr val="FAECEE"/>
          </a:solidFill>
          <a:ln w="12700">
            <a:solidFill>
              <a:srgbClr val="C94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2057400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94F55"/>
                </a:solidFill>
                <a:latin typeface="Pretendard"/>
              </a:rPr>
              <a:t>신청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114032" y="2359152"/>
            <a:ext cx="192024" cy="0"/>
          </a:xfrm>
          <a:prstGeom prst="line">
            <a:avLst/>
          </a:prstGeom>
          <a:ln w="1905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260336" y="2057400"/>
            <a:ext cx="603504" cy="603504"/>
          </a:xfrm>
          <a:prstGeom prst="ellipse">
            <a:avLst/>
          </a:prstGeom>
          <a:solidFill>
            <a:srgbClr val="FAECEE"/>
          </a:solidFill>
          <a:ln w="12700">
            <a:solidFill>
              <a:srgbClr val="C94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0336" y="2057400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94F55"/>
                </a:solidFill>
                <a:latin typeface="Pretendard"/>
              </a:rPr>
              <a:t>매칭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863840" y="2359152"/>
            <a:ext cx="192024" cy="0"/>
          </a:xfrm>
          <a:prstGeom prst="line">
            <a:avLst/>
          </a:prstGeom>
          <a:ln w="1905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010144" y="2057400"/>
            <a:ext cx="603504" cy="603504"/>
          </a:xfrm>
          <a:prstGeom prst="ellipse">
            <a:avLst/>
          </a:prstGeom>
          <a:solidFill>
            <a:srgbClr val="E8F5F1"/>
          </a:solidFill>
          <a:ln w="12700">
            <a:solidFill>
              <a:srgbClr val="23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10144" y="2057400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3856D"/>
                </a:solidFill>
                <a:latin typeface="Pretendard"/>
              </a:rPr>
              <a:t>이용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613648" y="2359152"/>
            <a:ext cx="192024" cy="0"/>
          </a:xfrm>
          <a:prstGeom prst="line">
            <a:avLst/>
          </a:prstGeom>
          <a:ln w="1905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759952" y="2057400"/>
            <a:ext cx="603504" cy="603504"/>
          </a:xfrm>
          <a:prstGeom prst="ellipse">
            <a:avLst/>
          </a:prstGeom>
          <a:solidFill>
            <a:srgbClr val="E8F5F1"/>
          </a:solidFill>
          <a:ln w="12700">
            <a:solidFill>
              <a:srgbClr val="23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59952" y="2057400"/>
            <a:ext cx="603504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3856D"/>
                </a:solidFill>
                <a:latin typeface="Pretendard"/>
              </a:rPr>
              <a:t>상환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10912" y="2953512"/>
            <a:ext cx="4169663" cy="1371600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7800" y="3182112"/>
            <a:ext cx="3611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3856D"/>
                </a:solidFill>
                <a:latin typeface="Pretendard"/>
              </a:rPr>
              <a:t>지금 계산할 수 있는 눈금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800" y="3511296"/>
            <a:ext cx="19202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7202A"/>
                </a:solidFill>
                <a:latin typeface="Pretendard"/>
              </a:rPr>
              <a:t>연간 공급 강도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7800" y="3895344"/>
            <a:ext cx="3474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6B76"/>
                </a:solidFill>
                <a:latin typeface="Pretendard"/>
              </a:rPr>
              <a:t>연간 신규 공급 건수 ÷ 자격 가구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4709160"/>
            <a:ext cx="8686800" cy="71323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892040"/>
            <a:ext cx="82296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7202A"/>
                </a:solidFill>
                <a:latin typeface="Pretendard"/>
              </a:rPr>
              <a:t>제언의 핵심: 가계금융복지조사에 ‘정책서민금융 보유 여부’ 문항 1개를 더하면 진짜 커버리지가 완성됩니다.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2 · 데이터와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04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2A"/>
                </a:solidFill>
                <a:latin typeface="Pretendard"/>
              </a:rPr>
              <a:t>세 개의 장부를 잇되, 결합 전 숫자부터 의심했습니다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재정·상품·가구 데이터를 같은 정의로 맞추고 항등식과 원문 대조로 결합 오류를 걸러냈습니다.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분석 신뢰도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이 연구의 강점은 데이터 양보다, 다른 출처가 같은 뜻인지 끝까지 확인한 데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3층 데이터 구조를 왼쪽에, 검증 3종을 오른쪽에. 기관 로고 나열은 피하고 핵심 숫자만 강조.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‘168개 파일’만으로 규모를 과시하지 말고 위양성 79.8% 제거와 교차검증을 함께 말합니다.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§1.1 표 3, §1.2 표 4·4-1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682496"/>
            <a:ext cx="4251960" cy="969264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1865376"/>
            <a:ext cx="56692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1883664"/>
            <a:ext cx="42062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457A7"/>
                </a:solidFill>
                <a:latin typeface="Pretendard"/>
              </a:rPr>
              <a:t>1층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1828800"/>
            <a:ext cx="10241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02A"/>
                </a:solidFill>
                <a:latin typeface="Pretendard"/>
              </a:rPr>
              <a:t>재정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1810512"/>
            <a:ext cx="20116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6"/>
                </a:solidFill>
                <a:latin typeface="Pretendard"/>
              </a:rPr>
              <a:t>열린재정 예산·결산 전수
복권기금·서금원 재원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816352"/>
            <a:ext cx="4251960" cy="969264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" y="2999232"/>
            <a:ext cx="56692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3017520"/>
            <a:ext cx="42062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3856D"/>
                </a:solidFill>
                <a:latin typeface="Pretendard"/>
              </a:rPr>
              <a:t>2층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2962656"/>
            <a:ext cx="10241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02A"/>
                </a:solidFill>
                <a:latin typeface="Pretendard"/>
              </a:rPr>
              <a:t>공급·자격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2944368"/>
            <a:ext cx="20116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6"/>
                </a:solidFill>
                <a:latin typeface="Pretendard"/>
              </a:rPr>
              <a:t>서금원 138개월 실적
상품정보 9,816건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50208"/>
            <a:ext cx="4251960" cy="969264"/>
          </a:xfrm>
          <a:prstGeom prst="roundRect">
            <a:avLst>
              <a:gd name="adj" fmla="val 8000"/>
            </a:avLst>
          </a:prstGeom>
          <a:solidFill>
            <a:srgbClr val="EFEAF8"/>
          </a:solidFill>
          <a:ln>
            <a:solidFill>
              <a:srgbClr val="E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4133088"/>
            <a:ext cx="56692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4151376"/>
            <a:ext cx="42062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D5AA7"/>
                </a:solidFill>
                <a:latin typeface="Pretendard"/>
              </a:rPr>
              <a:t>3층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096512"/>
            <a:ext cx="102412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02A"/>
                </a:solidFill>
                <a:latin typeface="Pretendard"/>
              </a:rPr>
              <a:t>가구·공간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4078224"/>
            <a:ext cx="20116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6"/>
                </a:solidFill>
                <a:latin typeface="Pretendard"/>
              </a:rPr>
              <a:t>가계금융복지조사 16.5만 가구
복지패널·재정패널·17개 시도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664208"/>
            <a:ext cx="13716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02A"/>
                </a:solidFill>
                <a:latin typeface="Pretendard"/>
              </a:rPr>
              <a:t>결합 검증</a:t>
            </a:r>
          </a:p>
        </p:txBody>
      </p:sp>
      <p:sp>
        <p:nvSpPr>
          <p:cNvPr id="36" name="Oval 35"/>
          <p:cNvSpPr/>
          <p:nvPr/>
        </p:nvSpPr>
        <p:spPr>
          <a:xfrm>
            <a:off x="5084064" y="2084831"/>
            <a:ext cx="384048" cy="384048"/>
          </a:xfrm>
          <a:prstGeom prst="ellipse">
            <a:avLst/>
          </a:prstGeom>
          <a:solidFill>
            <a:srgbClr val="17202A"/>
          </a:solidFill>
          <a:ln w="12700">
            <a:solidFill>
              <a:srgbClr val="17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84064" y="2084831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32704" y="2066543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A"/>
                </a:solidFill>
                <a:latin typeface="Pretendard"/>
              </a:rPr>
              <a:t>항등식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32704" y="2340863"/>
            <a:ext cx="33375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6"/>
                </a:solidFill>
                <a:latin typeface="Pretendard"/>
              </a:rPr>
              <a:t>도입 전 잔여 0, 결산 합계 원 단위 일치</a:t>
            </a:r>
          </a:p>
        </p:txBody>
      </p:sp>
      <p:sp>
        <p:nvSpPr>
          <p:cNvPr id="40" name="Oval 39"/>
          <p:cNvSpPr/>
          <p:nvPr/>
        </p:nvSpPr>
        <p:spPr>
          <a:xfrm>
            <a:off x="5084064" y="3044952"/>
            <a:ext cx="384048" cy="384048"/>
          </a:xfrm>
          <a:prstGeom prst="ellipse">
            <a:avLst/>
          </a:prstGeom>
          <a:solidFill>
            <a:srgbClr val="17202A"/>
          </a:solidFill>
          <a:ln w="12700">
            <a:solidFill>
              <a:srgbClr val="17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84064" y="3044952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32704" y="3026664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A"/>
                </a:solidFill>
                <a:latin typeface="Pretendard"/>
              </a:rPr>
              <a:t>원문 대조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2704" y="3300984"/>
            <a:ext cx="33375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6"/>
                </a:solidFill>
                <a:latin typeface="Pretendard"/>
              </a:rPr>
              <a:t>사업명 대신 성과평가보고서·법령으로 대응 확정</a:t>
            </a:r>
          </a:p>
        </p:txBody>
      </p:sp>
      <p:sp>
        <p:nvSpPr>
          <p:cNvPr id="44" name="Oval 43"/>
          <p:cNvSpPr/>
          <p:nvPr/>
        </p:nvSpPr>
        <p:spPr>
          <a:xfrm>
            <a:off x="5084064" y="4005072"/>
            <a:ext cx="384048" cy="384048"/>
          </a:xfrm>
          <a:prstGeom prst="ellipse">
            <a:avLst/>
          </a:prstGeom>
          <a:solidFill>
            <a:srgbClr val="17202A"/>
          </a:solidFill>
          <a:ln w="12700">
            <a:solidFill>
              <a:srgbClr val="17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84064" y="4005072"/>
            <a:ext cx="38404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2704" y="3986784"/>
            <a:ext cx="1188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A"/>
                </a:solidFill>
                <a:latin typeface="Pretendard"/>
              </a:rPr>
              <a:t>정의 고정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2704" y="4261104"/>
            <a:ext cx="33375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6"/>
                </a:solidFill>
                <a:latin typeface="Pretendard"/>
              </a:rPr>
              <a:t>단위·분모·시점·유량/저량을 전 상품에 동일 적용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47488" y="4928616"/>
            <a:ext cx="4114800" cy="621792"/>
          </a:xfrm>
          <a:prstGeom prst="roundRect">
            <a:avLst>
              <a:gd name="adj" fmla="val 8000"/>
            </a:avLst>
          </a:prstGeom>
          <a:solidFill>
            <a:srgbClr val="FAECEE"/>
          </a:solidFill>
          <a:ln>
            <a:solidFill>
              <a:srgbClr val="F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30368" y="5074920"/>
            <a:ext cx="3749039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94F55"/>
                </a:solidFill>
                <a:latin typeface="Pretendard"/>
              </a:rPr>
              <a:t>키워드 원시액 106.0조 → 위양성 79.8% 제외 → 관련 예산 21.4조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2 · 재원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05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7202A"/>
                </a:solidFill>
                <a:latin typeface="Pretendard"/>
              </a:rPr>
              <a:t>정책서민금융 재원의 68.9%는 집행률을 계산할 장부가 없습니다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금융회사 출연금·휴면예금·기부금은 열린재정의 세부사업 밖에서 조달됩니다.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구조적 측정 공백 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세출 밖 재원이 나쁘다는 뜻이 아닙니다. 이 재원을 성과관리할 도달 지표가 없다는 뜻입니다.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2022~2025 누적 막대. 세출 안은 파랑, 밖은 빨강. 2024년 74.1%와 누적 68.9%만 크게.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세출 밖을 ‘불법’·‘비공식’처럼 보이게 하지 않습니다. 조달 구조와 성과 측정은 구분합니다.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§2.1 표 5-1·5-2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5870448" cy="425196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unding_off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2034948"/>
            <a:ext cx="5797296" cy="338246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5614416"/>
            <a:ext cx="5687568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보고서 원 그래프 · 최종본에서는 편집 가능한 막대로 재구현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65392" y="1700784"/>
            <a:ext cx="2542032" cy="1993392"/>
          </a:xfrm>
          <a:prstGeom prst="roundRect">
            <a:avLst>
              <a:gd name="adj" fmla="val 8000"/>
            </a:avLst>
          </a:prstGeom>
          <a:solidFill>
            <a:srgbClr val="FAECEE"/>
          </a:solidFill>
          <a:ln>
            <a:solidFill>
              <a:srgbClr val="F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1993392"/>
            <a:ext cx="20116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C94F55"/>
                </a:solidFill>
                <a:latin typeface="Pretendard"/>
              </a:rPr>
              <a:t>68.9%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2633472"/>
            <a:ext cx="2011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02A"/>
                </a:solidFill>
                <a:latin typeface="Pretendard"/>
              </a:rPr>
              <a:t>2022~2025 누계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054096"/>
            <a:ext cx="20116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F6B76"/>
                </a:solidFill>
                <a:latin typeface="Pretendard"/>
              </a:rPr>
              <a:t>집행률 산출 불가 구간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65392" y="3977639"/>
            <a:ext cx="2542032" cy="15727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1424" y="4215384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핵심 해석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4590288"/>
            <a:ext cx="19659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02A"/>
                </a:solidFill>
                <a:latin typeface="Pretendard"/>
              </a:rPr>
              <a:t>성과가 없는 것이 아니라
성과를 잴 자가 없습니다.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2 · 핀포인트 대조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06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7202A"/>
                </a:solidFill>
                <a:latin typeface="Pretendard"/>
              </a:rPr>
              <a:t>같은 돈에 두 개의 자를 대자, 만점 뒤의 차이가 보였습니다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같은 복권기금 재원은 집행률 100%였지만 상품의 공급 강도는 10.0~12.0건이었습니다.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핵심 가설 H1의 직접 근거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집행률 100%는 출연 순간 성립하는 회계적 항등식입니다. 성과 정보가 생기는 지점은 그 다음입니다.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동일 재원·동일 연도라는 브래킷을 크게. 100과 12/10의 차이를 두 눈금자로 표현.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집행률과 공급 강도의 단위를 같은 퍼센트로 표기하지 않습니다.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§2.3 표 6-1·그림 3-1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6263640" cy="4279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inpoint_execution_tak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946654"/>
            <a:ext cx="6190487" cy="358648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5641848"/>
            <a:ext cx="6080759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2024년 동일 재원 1:1 대조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737360"/>
            <a:ext cx="2176272" cy="1170432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4" y="1920240"/>
            <a:ext cx="1700784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2457A7"/>
                </a:solidFill>
                <a:latin typeface="Pretendard"/>
              </a:rPr>
              <a:t>100.0%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432304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B76"/>
                </a:solidFill>
                <a:latin typeface="Pretendard"/>
              </a:rPr>
              <a:t>출연 순간 집행 완료</a:t>
            </a:r>
          </a:p>
        </p:txBody>
      </p:sp>
      <p:sp>
        <p:nvSpPr>
          <p:cNvPr id="26" name="Chevron 25"/>
          <p:cNvSpPr/>
          <p:nvPr/>
        </p:nvSpPr>
        <p:spPr>
          <a:xfrm>
            <a:off x="7863840" y="3072384"/>
            <a:ext cx="384048" cy="45720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49440" y="3703320"/>
            <a:ext cx="2176272" cy="1335024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3913632"/>
            <a:ext cx="1901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3856D"/>
                </a:solidFill>
                <a:latin typeface="Pretendard"/>
              </a:rPr>
              <a:t>12.0 / 10.0건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5744" y="4462272"/>
            <a:ext cx="188366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B76"/>
                </a:solidFill>
                <a:latin typeface="Pretendard"/>
              </a:rPr>
              <a:t>자격 100가구당 신규 공급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5303520"/>
            <a:ext cx="228600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202A"/>
                </a:solidFill>
                <a:latin typeface="Pretendard"/>
              </a:rPr>
              <a:t>집행률은 ‘기관까지’,
도달 지표는 ‘사람까지’를 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2 · 자격 시뮬레이션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07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7202A"/>
                </a:solidFill>
                <a:latin typeface="Pretendard"/>
              </a:rPr>
              <a:t>자격 가구를 분모에 놓자, 상품별 도달의 순위가 갈렸습니다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2024년 공급 강도는 햇살론15 2.1건부터 근로자햇살론 12.0건까지 벌어졌습니다.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직접 만든 분모의 가치 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공급액만 보면 보이지 않던 차이를, 정부 승인 조사에 자격 규칙을 적용해 비교 가능한 눈금으로 만들었습니다.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막대는 공급 강도, 점은 자격 가구. 두 축은 색과 범례를 분리하고 햇살론15의 674만 가구를 강조.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상품별 자격 정의가 다르므로 절대 수준의 우열로 단정하지 않습니다. 비교용 지표라고 각주 처리합니다.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§3.1~3.3 표 7-0·7-1·그림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6629400" cy="425196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akeup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5" y="1834247"/>
            <a:ext cx="6556248" cy="378386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5614416"/>
            <a:ext cx="6446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C안 기준, 2024년 · 도달률 표기는 최종본에서 ‘공급 강도’로 교체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6912" y="1737360"/>
            <a:ext cx="1828800" cy="1353312"/>
          </a:xfrm>
          <a:prstGeom prst="roundRect">
            <a:avLst>
              <a:gd name="adj" fmla="val 8000"/>
            </a:avLst>
          </a:prstGeom>
          <a:solidFill>
            <a:srgbClr val="FAECEE"/>
          </a:solidFill>
          <a:ln>
            <a:solidFill>
              <a:srgbClr val="F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8936" y="1938528"/>
            <a:ext cx="1444752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>
                <a:solidFill>
                  <a:srgbClr val="C94F55"/>
                </a:solidFill>
                <a:latin typeface="Pretendard"/>
              </a:rPr>
              <a:t>674만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2450592"/>
            <a:ext cx="153619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02A"/>
                </a:solidFill>
                <a:latin typeface="Pretendard"/>
              </a:rPr>
              <a:t>햇살론15 자격 가구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6" y="2779776"/>
            <a:ext cx="153619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B76"/>
                </a:solidFill>
                <a:latin typeface="Pretendard"/>
              </a:rPr>
              <a:t>공급 강도 2.1건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6912" y="3401568"/>
            <a:ext cx="1828800" cy="1536192"/>
          </a:xfrm>
          <a:prstGeom prst="roundRect">
            <a:avLst>
              <a:gd name="adj" fmla="val 8000"/>
            </a:avLst>
          </a:prstGeom>
          <a:solidFill>
            <a:srgbClr val="FFF5D9"/>
          </a:solidFill>
          <a:ln>
            <a:solidFill>
              <a:srgbClr val="FFF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3611880"/>
            <a:ext cx="14173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86D00"/>
                </a:solidFill>
                <a:latin typeface="Pretendard"/>
              </a:rPr>
              <a:t>읽는 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3968496"/>
            <a:ext cx="155448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202A"/>
                </a:solidFill>
                <a:latin typeface="Pretendard"/>
              </a:rPr>
              <a:t>연간 신규 공급(유량)
÷ 자격 가구(저량)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4645152"/>
            <a:ext cx="151790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C94F55"/>
                </a:solidFill>
                <a:latin typeface="Pretendard"/>
              </a:rPr>
              <a:t>수급률 아님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2 · 미수급 프로파일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08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7202A"/>
                </a:solidFill>
                <a:latin typeface="Pretendard"/>
              </a:rPr>
              <a:t>자영업 가구주의 수급 승산은 비경제활동 가구의 7분의 1이었습니다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소득·가구·지역을 통제해도 경제활동 형태에 따라 제도 포착률이 달랐습니다.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미도달이 무작위가 아님을 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자영업은 자격이 없어서가 아니라, 증빙과 소득 파악의 장벽까지 겹칠 가능성이 큰 집단입니다.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왼쪽은 승산비 막대, 오른쪽은 예측모형 검증 카드. SHAP은 보조 자료로 작게.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회귀 결과를 인과로 말하지 않습니다. XGBoost를 행정 판정 자동화로 제안하지 않습니다.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§3.4~3.5 표 8·8-1, 그림 7·8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609344"/>
            <a:ext cx="3291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2A"/>
                </a:solidFill>
                <a:latin typeface="Pretendard"/>
              </a:rPr>
              <a:t>기초생활보장 수급 승산비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048256"/>
            <a:ext cx="10789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7202A"/>
                </a:solidFill>
                <a:latin typeface="Pretendard"/>
              </a:rPr>
              <a:t>비경제활동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7632" y="2075688"/>
            <a:ext cx="2743200" cy="21945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627632" y="2075688"/>
            <a:ext cx="2743200" cy="219456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3984" y="2039112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1.00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2670048"/>
            <a:ext cx="10789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7202A"/>
                </a:solidFill>
                <a:latin typeface="Pretendard"/>
              </a:rPr>
              <a:t>임금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27632" y="2697480"/>
            <a:ext cx="2743200" cy="21945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627632" y="2697480"/>
            <a:ext cx="1097280" cy="219456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3984" y="2660904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0.40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3291840"/>
            <a:ext cx="10789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7202A"/>
                </a:solidFill>
                <a:latin typeface="Pretendard"/>
              </a:rPr>
              <a:t>공공·자활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27632" y="3319272"/>
            <a:ext cx="2743200" cy="21945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627632" y="3319272"/>
            <a:ext cx="713232" cy="219456"/>
          </a:xfrm>
          <a:prstGeom prst="roundRect">
            <a:avLst>
              <a:gd name="adj" fmla="val 8000"/>
            </a:avLst>
          </a:prstGeom>
          <a:solidFill>
            <a:srgbClr val="C94F55"/>
          </a:solidFill>
          <a:ln>
            <a:solidFill>
              <a:srgbClr val="C94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3984" y="328269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94F55"/>
                </a:solidFill>
                <a:latin typeface="Pretendard"/>
              </a:rPr>
              <a:t>0.26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913632"/>
            <a:ext cx="10789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7202A"/>
                </a:solidFill>
                <a:latin typeface="Pretendard"/>
              </a:rPr>
              <a:t>실업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27632" y="3941064"/>
            <a:ext cx="2743200" cy="21945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627632" y="3941064"/>
            <a:ext cx="658368" cy="219456"/>
          </a:xfrm>
          <a:prstGeom prst="roundRect">
            <a:avLst>
              <a:gd name="adj" fmla="val 8000"/>
            </a:avLst>
          </a:prstGeom>
          <a:solidFill>
            <a:srgbClr val="C94F55"/>
          </a:solidFill>
          <a:ln>
            <a:solidFill>
              <a:srgbClr val="C94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3984" y="3904488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94F55"/>
                </a:solidFill>
                <a:latin typeface="Pretendard"/>
              </a:rPr>
              <a:t>0.24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4535424"/>
            <a:ext cx="107899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7202A"/>
                </a:solidFill>
                <a:latin typeface="Pretendard"/>
              </a:rPr>
              <a:t>자영업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27632" y="4562856"/>
            <a:ext cx="2743200" cy="219456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627632" y="4562856"/>
            <a:ext cx="384048" cy="219456"/>
          </a:xfrm>
          <a:prstGeom prst="roundRect">
            <a:avLst>
              <a:gd name="adj" fmla="val 8000"/>
            </a:avLst>
          </a:prstGeom>
          <a:solidFill>
            <a:srgbClr val="C94F55"/>
          </a:solidFill>
          <a:ln>
            <a:solidFill>
              <a:srgbClr val="C94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43984" y="452628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94F55"/>
                </a:solidFill>
                <a:latin typeface="Pretendard"/>
              </a:rPr>
              <a:t>0.14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5257800"/>
            <a:ext cx="43891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기준범주=비경제활동 가구주 · 경제활동 집단 p&lt;0.001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30368" y="1645920"/>
            <a:ext cx="3913632" cy="129844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77256" y="1847088"/>
            <a:ext cx="33832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탐색적 스크리닝 성능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7256" y="2176272"/>
            <a:ext cx="338328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7202A"/>
                </a:solidFill>
                <a:latin typeface="Pretendard"/>
              </a:rPr>
              <a:t>AUC 0.819</a:t>
            </a:r>
            <a:r>
              <a:rPr sz="1300" b="1">
                <a:solidFill>
                  <a:srgbClr val="2457A7"/>
                </a:solidFill>
                <a:latin typeface="Pretendard"/>
              </a:rPr>
              <a:t>   재현율 0.90</a:t>
            </a:r>
            <a:r>
              <a:rPr sz="1300" b="1">
                <a:solidFill>
                  <a:srgbClr val="2457A7"/>
                </a:solidFill>
                <a:latin typeface="Pretendard"/>
              </a:rPr>
              <a:t>   정밀도 0.836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77256" y="2633472"/>
            <a:ext cx="33832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가구 그룹 층화 5-fold · 동일 가구의 훈련/검증 중복 방지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30368" y="3172968"/>
            <a:ext cx="3913632" cy="224028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koweps_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4" y="3209544"/>
            <a:ext cx="3573918" cy="216712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321807" y="5175504"/>
            <a:ext cx="373075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SHAP은 변수 중요도 설명용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2 · 신청주의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09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2A"/>
                </a:solidFill>
                <a:latin typeface="Pretendard"/>
              </a:rPr>
              <a:t>병목은 심사보다 앞선 ‘인지’에서 시작됐습니다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근로장려금 안내를 인지한 가구는 79~90%가 신청했지만, 무인지 가구는 0.1%에 머물렀습니다.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전달 변수를 가장 직관적으로 입증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신청하면 약 96%가 받습니다. 자격 심사보다 먼저, 제도를 알았는지가 퍼널을 갈랐습니다.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인지/무인지 두 갈래 퍼널. 79~90%와 0.1%의 높이 차이를 화면 전체로 보여 주고, 수급 96%는 마지막 단계에 배치.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자기보고이므로 격차는 상한입니다. ‘안내가 신청률을 90%p 올렸다’는 인과 표현은 피합니다.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§3.6 표 9·그림 9, 표 11b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700784"/>
            <a:ext cx="1234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57A7"/>
                </a:solidFill>
                <a:latin typeface="Pretendard"/>
              </a:rPr>
              <a:t>안내 인지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103120"/>
            <a:ext cx="1938528" cy="749808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103120"/>
            <a:ext cx="1938528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2457A7"/>
                </a:solidFill>
                <a:latin typeface="Pretendard"/>
              </a:rPr>
              <a:t>79~90%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578608"/>
            <a:ext cx="193852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02A"/>
                </a:solidFill>
                <a:latin typeface="Pretendard"/>
              </a:rPr>
              <a:t>신청</a:t>
            </a:r>
          </a:p>
        </p:txBody>
      </p:sp>
      <p:sp>
        <p:nvSpPr>
          <p:cNvPr id="24" name="Chevron 23"/>
          <p:cNvSpPr/>
          <p:nvPr/>
        </p:nvSpPr>
        <p:spPr>
          <a:xfrm>
            <a:off x="2697480" y="2221992"/>
            <a:ext cx="411480" cy="5029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28416" y="2103120"/>
            <a:ext cx="1938528" cy="749808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8416" y="2103120"/>
            <a:ext cx="1938528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23856D"/>
                </a:solidFill>
                <a:latin typeface="Pretendard"/>
              </a:rPr>
              <a:t>약 96%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8416" y="2578608"/>
            <a:ext cx="193852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02A"/>
                </a:solidFill>
                <a:latin typeface="Pretendard"/>
              </a:rPr>
              <a:t>수급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29584"/>
            <a:ext cx="1234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4F55"/>
                </a:solidFill>
                <a:latin typeface="Pretendard"/>
              </a:rPr>
              <a:t>안내 무인지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931920"/>
            <a:ext cx="1938528" cy="749808"/>
          </a:xfrm>
          <a:prstGeom prst="roundRect">
            <a:avLst>
              <a:gd name="adj" fmla="val 8000"/>
            </a:avLst>
          </a:prstGeom>
          <a:solidFill>
            <a:srgbClr val="FAECEE"/>
          </a:solidFill>
          <a:ln>
            <a:solidFill>
              <a:srgbClr val="F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931920"/>
            <a:ext cx="1938528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C94F55"/>
                </a:solidFill>
                <a:latin typeface="Pretendard"/>
              </a:rPr>
              <a:t>0.1%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407408"/>
            <a:ext cx="193852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202A"/>
                </a:solidFill>
                <a:latin typeface="Pretendard"/>
              </a:rPr>
              <a:t>신청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910328"/>
            <a:ext cx="4754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4F55"/>
                </a:solidFill>
                <a:latin typeface="Pretendard"/>
              </a:rPr>
              <a:t>소득요건 충족 가구로 좁혀도 0.00~0.14%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41264" y="1664208"/>
            <a:ext cx="3593592" cy="4187952"/>
          </a:xfrm>
          <a:prstGeom prst="rect">
            <a:avLst/>
          </a:prstGeom>
          <a:solidFill>
            <a:srgbClr val="FFFFFF"/>
          </a:solidFill>
          <a:ln w="1143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nastab_eitc_notice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699869"/>
            <a:ext cx="3520440" cy="21166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632703" y="5614416"/>
            <a:ext cx="34107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2021~2024 자기보고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2 · 공간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10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7202A"/>
                </a:solidFill>
                <a:latin typeface="Pretendard"/>
              </a:rPr>
              <a:t>취약 수요는 뭉쳐 있지만, 공급 접근성은 그 지리를 따르지 않았습니다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수요는 유의한 공간 군집을 보였고, 접근성은 무작위에 가까웠습니다.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지역 배치의 불일치 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핫스폿을 확정한 것이 아니라, 수요의 지도와 공급의 지도가 다르다는 전역 패턴을 확인했습니다.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2×2 산점도에 우선 검토 지역만 라벨. 위에는 Moran’s I 두 개를 관측 카드로 배치.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FDR 보정 후 국지 군집은 0곳입니다. 특정 지역을 ‘통계적으로 확정된 사각지대’로 칠하지 않습니다.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§4.2~4.4 표 11~13-1·그림 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72768"/>
            <a:ext cx="2560320" cy="1170432"/>
          </a:xfrm>
          <a:prstGeom prst="roundRect">
            <a:avLst>
              <a:gd name="adj" fmla="val 8000"/>
            </a:avLst>
          </a:prstGeom>
          <a:solidFill>
            <a:srgbClr val="FAECEE"/>
          </a:solidFill>
          <a:ln>
            <a:solidFill>
              <a:srgbClr val="F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1737360"/>
            <a:ext cx="2231136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C94F55"/>
                </a:solidFill>
                <a:latin typeface="Pretendard"/>
              </a:rPr>
              <a:t>I = 0.245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2322576"/>
            <a:ext cx="223113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A"/>
                </a:solidFill>
                <a:latin typeface="Pretendard"/>
              </a:rPr>
              <a:t>취약 수요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2624328"/>
            <a:ext cx="2231136" cy="-365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6"/>
                </a:solidFill>
                <a:latin typeface="Pretendard"/>
              </a:rPr>
              <a:t>p=0.044 · 유의한 공간 군집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18688" y="1572768"/>
            <a:ext cx="2560320" cy="1170432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1737360"/>
            <a:ext cx="2231136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457A7"/>
                </a:solidFill>
                <a:latin typeface="Pretendard"/>
              </a:rPr>
              <a:t>I = -0.151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322576"/>
            <a:ext cx="223113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A"/>
                </a:solidFill>
                <a:latin typeface="Pretendard"/>
              </a:rPr>
              <a:t>공급 접근성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624328"/>
            <a:ext cx="2231136" cy="-365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6"/>
                </a:solidFill>
                <a:latin typeface="Pretendard"/>
              </a:rPr>
              <a:t>p=0.313 · 유의한 구조 없음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0176" y="1572768"/>
            <a:ext cx="3136392" cy="1170432"/>
          </a:xfrm>
          <a:prstGeom prst="roundRect">
            <a:avLst>
              <a:gd name="adj" fmla="val 8000"/>
            </a:avLst>
          </a:prstGeom>
          <a:solidFill>
            <a:srgbClr val="FFF5D9"/>
          </a:solidFill>
          <a:ln>
            <a:solidFill>
              <a:srgbClr val="FFF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1792224"/>
            <a:ext cx="26060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A86D00"/>
                </a:solidFill>
                <a:latin typeface="Pretendard"/>
              </a:rPr>
              <a:t>국지 군집 0곳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240280"/>
            <a:ext cx="260604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B76"/>
                </a:solidFill>
                <a:latin typeface="Pretendard"/>
              </a:rPr>
              <a:t>LISA · FDR 보정 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26080"/>
            <a:ext cx="5833872" cy="2944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quadran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652" y="2962656"/>
            <a:ext cx="3462966" cy="287121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8640" y="5632704"/>
            <a:ext cx="565099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원 크기=취약수요 규모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10528" y="2944368"/>
            <a:ext cx="2596896" cy="285292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3182112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4F55"/>
                </a:solidFill>
                <a:latin typeface="Pretendard"/>
              </a:rPr>
              <a:t>우선 검토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566160"/>
            <a:ext cx="20574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202A"/>
                </a:solidFill>
                <a:latin typeface="Pretendard"/>
              </a:rPr>
              <a:t>경남 · 전남 · 울산
인천 · 충남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325112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6"/>
                </a:solidFill>
                <a:latin typeface="Pretendard"/>
              </a:rPr>
              <a:t>접근성↓ × 사각지대↑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66560" y="4736592"/>
            <a:ext cx="196596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766560" y="4937760"/>
            <a:ext cx="2057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전달 비효율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285232"/>
            <a:ext cx="20574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202A"/>
                </a:solidFill>
                <a:latin typeface="Pretendard"/>
              </a:rPr>
              <a:t>경기 · 서울 · 부산 · 경북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2 · 전달체계 준실험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11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7202A"/>
                </a:solidFill>
                <a:latin typeface="Pretendard"/>
              </a:rPr>
              <a:t>문턱이 낮은 접점이 열리자 월 1.7만 건이 통계에 새로 나타났습니다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소액생계비대출 도입 시점에 서금원 직접취급 공급이 수준 점프를 보였습니다.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접점의 필요성을 시계열로 뒷받침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새 접점이 열리자 제도권 이용이 즉시 늘었습니다. 다만 그 안에는 현재화·채널 이동·유발 수요가 함께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ITS 그래프는 상단 미소금융 계열만 확대. 2023.3 단절선을 굵게, +16.94천 건과 p&lt;0.001만 표시.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접점이 숨은 수요를 ‘인과적으로 발굴했다’고 단정하지 않습니다. 기술적 연관으로 말합니다.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§5.1~5.3 표 14·그림 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581912"/>
            <a:ext cx="6080760" cy="429768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ts_supply_br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10" y="1618487"/>
            <a:ext cx="5655539" cy="42245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5641848"/>
            <a:ext cx="58978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분절회귀 ITS · 월 더미 계절성 · Newey-West HAC(12)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93992" y="1719072"/>
            <a:ext cx="2295144" cy="1508760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2592" y="1947672"/>
            <a:ext cx="184708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23856D"/>
                </a:solidFill>
                <a:latin typeface="Pretendard"/>
              </a:rPr>
              <a:t>+16.94천 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2478024"/>
            <a:ext cx="184708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7202A"/>
                </a:solidFill>
                <a:latin typeface="Pretendard"/>
              </a:rPr>
              <a:t>2023.3 수준 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2788920"/>
            <a:ext cx="18470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B76"/>
                </a:solidFill>
                <a:latin typeface="Pretendard"/>
              </a:rPr>
              <a:t>p&lt;0.001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3621024"/>
            <a:ext cx="2148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202A"/>
                </a:solidFill>
                <a:latin typeface="Pretendard"/>
              </a:rPr>
              <a:t>점프의 구성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977639"/>
            <a:ext cx="214884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기존 미충족 수요의 현재화</a:t>
            </a:r>
          </a:p>
          <a:p>
            <a:pPr>
              <a:spcAft>
                <a:spcPts val="700"/>
              </a:spcAft>
              <a:defRPr sz="11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상품·채널 간 이동</a:t>
            </a:r>
          </a:p>
          <a:p>
            <a:pPr>
              <a:spcAft>
                <a:spcPts val="700"/>
              </a:spcAft>
              <a:defRPr sz="11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문턱 완화에 따른 유발 수요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2280" y="5367528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FAECEE"/>
          </a:solidFill>
          <a:ln>
            <a:solidFill>
              <a:srgbClr val="F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2" y="5385816"/>
            <a:ext cx="127101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94F55"/>
                </a:solidFill>
                <a:latin typeface="Pretendard"/>
              </a:rPr>
              <a:t>연관 · 인과 아님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3 · 증거의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12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7202A"/>
                </a:solidFill>
                <a:latin typeface="Pretendard"/>
              </a:rPr>
              <a:t>사각지대는 ‘신청 실패’가 아니라, 기록되지 않은 여러 이탈의 합입니다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장부가 놓친 지점을 상담 동선에서 표준화해 기록해야 다음 분석이 시작됩니다.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분석에서 설계로 넘어가는 다리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지금까지의 분석은 같은 결론을 가리킵니다. 사람은 자격 심사에 오르기 전부터 인지·서류·매칭 단계에서 빠집니다.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하나의 퍼널에 각 분석 결과를 꽂기. 빠지는 지점은 빨강, 관측 가능한 지점은 파랑, 새로 기록할 지점은 초록.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각 모듈을 다시 요약하는 장이 아닙니다. ‘어디서 데이터를 만들 것인가’로 논점을 이동합니다.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연구초록, §3.6·§5.2, 제3장 정책 제언 2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" y="1892807"/>
            <a:ext cx="658368" cy="658368"/>
          </a:xfrm>
          <a:prstGeom prst="ellipse">
            <a:avLst/>
          </a:prstGeom>
          <a:solidFill>
            <a:srgbClr val="EAF1FB"/>
          </a:solidFill>
          <a:ln w="12700"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1892807"/>
            <a:ext cx="658368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자격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2761488"/>
            <a:ext cx="1353312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202A"/>
                </a:solidFill>
                <a:latin typeface="Pretendard"/>
              </a:rPr>
              <a:t>자격 규칙
시뮬레이션</a:t>
            </a:r>
          </a:p>
        </p:txBody>
      </p:sp>
      <p:sp>
        <p:nvSpPr>
          <p:cNvPr id="23" name="Chevron 22"/>
          <p:cNvSpPr/>
          <p:nvPr/>
        </p:nvSpPr>
        <p:spPr>
          <a:xfrm>
            <a:off x="1755648" y="1956816"/>
            <a:ext cx="292608" cy="5029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2576" y="1892807"/>
            <a:ext cx="658368" cy="658368"/>
          </a:xfrm>
          <a:prstGeom prst="ellipse">
            <a:avLst/>
          </a:prstGeom>
          <a:solidFill>
            <a:srgbClr val="FAECEE"/>
          </a:solidFill>
          <a:ln w="12700">
            <a:solidFill>
              <a:srgbClr val="C94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2576" y="1892807"/>
            <a:ext cx="658368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4F55"/>
                </a:solidFill>
                <a:latin typeface="Pretendard"/>
              </a:rPr>
              <a:t>인지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75104" y="2761488"/>
            <a:ext cx="1353312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202A"/>
                </a:solidFill>
                <a:latin typeface="Pretendard"/>
              </a:rPr>
              <a:t>79~90%
vs 0.1%</a:t>
            </a:r>
          </a:p>
        </p:txBody>
      </p:sp>
      <p:sp>
        <p:nvSpPr>
          <p:cNvPr id="27" name="Chevron 26"/>
          <p:cNvSpPr/>
          <p:nvPr/>
        </p:nvSpPr>
        <p:spPr>
          <a:xfrm>
            <a:off x="3291840" y="1956816"/>
            <a:ext cx="292608" cy="5029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58768" y="1892807"/>
            <a:ext cx="658368" cy="658368"/>
          </a:xfrm>
          <a:prstGeom prst="ellipse">
            <a:avLst/>
          </a:prstGeom>
          <a:solidFill>
            <a:srgbClr val="FAECEE"/>
          </a:solidFill>
          <a:ln w="12700">
            <a:solidFill>
              <a:srgbClr val="C94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58768" y="1892807"/>
            <a:ext cx="658368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4F55"/>
                </a:solidFill>
                <a:latin typeface="Pretendard"/>
              </a:rPr>
              <a:t>신청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1296" y="2761488"/>
            <a:ext cx="1353312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202A"/>
                </a:solidFill>
                <a:latin typeface="Pretendard"/>
              </a:rPr>
              <a:t>서류·절차
장벽</a:t>
            </a:r>
          </a:p>
        </p:txBody>
      </p:sp>
      <p:sp>
        <p:nvSpPr>
          <p:cNvPr id="31" name="Chevron 30"/>
          <p:cNvSpPr/>
          <p:nvPr/>
        </p:nvSpPr>
        <p:spPr>
          <a:xfrm>
            <a:off x="4828031" y="1956816"/>
            <a:ext cx="292608" cy="5029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394959" y="1892807"/>
            <a:ext cx="658368" cy="658368"/>
          </a:xfrm>
          <a:prstGeom prst="ellipse">
            <a:avLst/>
          </a:prstGeom>
          <a:solidFill>
            <a:srgbClr val="FAECEE"/>
          </a:solidFill>
          <a:ln w="12700">
            <a:solidFill>
              <a:srgbClr val="C94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59" y="1892807"/>
            <a:ext cx="658368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94F55"/>
                </a:solidFill>
                <a:latin typeface="Pretendard"/>
              </a:rPr>
              <a:t>매칭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2761488"/>
            <a:ext cx="1353312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202A"/>
                </a:solidFill>
                <a:latin typeface="Pretendard"/>
              </a:rPr>
              <a:t>맞는 상품
부재</a:t>
            </a:r>
          </a:p>
        </p:txBody>
      </p:sp>
      <p:sp>
        <p:nvSpPr>
          <p:cNvPr id="35" name="Chevron 34"/>
          <p:cNvSpPr/>
          <p:nvPr/>
        </p:nvSpPr>
        <p:spPr>
          <a:xfrm>
            <a:off x="6364223" y="1956816"/>
            <a:ext cx="292608" cy="5029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31151" y="1892807"/>
            <a:ext cx="658368" cy="658368"/>
          </a:xfrm>
          <a:prstGeom prst="ellipse">
            <a:avLst/>
          </a:prstGeom>
          <a:solidFill>
            <a:srgbClr val="EAF1FB"/>
          </a:solidFill>
          <a:ln w="12700"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1151" y="1892807"/>
            <a:ext cx="658368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이용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79" y="2761488"/>
            <a:ext cx="1353312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202A"/>
                </a:solidFill>
                <a:latin typeface="Pretendard"/>
              </a:rPr>
              <a:t>공급 강도
2.1~12.0</a:t>
            </a:r>
          </a:p>
        </p:txBody>
      </p:sp>
      <p:sp>
        <p:nvSpPr>
          <p:cNvPr id="39" name="Chevron 38"/>
          <p:cNvSpPr/>
          <p:nvPr/>
        </p:nvSpPr>
        <p:spPr>
          <a:xfrm>
            <a:off x="7900415" y="1956816"/>
            <a:ext cx="292608" cy="5029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67344" y="1892807"/>
            <a:ext cx="658368" cy="658368"/>
          </a:xfrm>
          <a:prstGeom prst="ellipse">
            <a:avLst/>
          </a:prstGeom>
          <a:solidFill>
            <a:srgbClr val="EAF1FB"/>
          </a:solidFill>
          <a:ln w="12700"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67344" y="1892807"/>
            <a:ext cx="658368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상환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1" y="2761488"/>
            <a:ext cx="1353312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7202A"/>
                </a:solidFill>
                <a:latin typeface="Pretendard"/>
              </a:rPr>
              <a:t>연체·
대위변제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38528" y="3749039"/>
            <a:ext cx="4626864" cy="969264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 w="15240">
            <a:solidFill>
              <a:srgbClr val="23856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12848" y="3931920"/>
            <a:ext cx="4069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3856D"/>
                </a:solidFill>
                <a:latin typeface="Pretendard"/>
              </a:rPr>
              <a:t>상담에서 새로 남길 데이터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2848" y="4315968"/>
            <a:ext cx="4069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7202A"/>
                </a:solidFill>
                <a:latin typeface="Pretendard"/>
              </a:rPr>
              <a:t>자격 미달  ·  서류·절차 장벽  ·  적합 상품 없음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60320" y="3456432"/>
            <a:ext cx="0" cy="292607"/>
          </a:xfrm>
          <a:prstGeom prst="line">
            <a:avLst/>
          </a:prstGeom>
          <a:ln w="19050">
            <a:solidFill>
              <a:srgbClr val="23856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096512" y="3456432"/>
            <a:ext cx="0" cy="292607"/>
          </a:xfrm>
          <a:prstGeom prst="line">
            <a:avLst/>
          </a:prstGeom>
          <a:ln w="19050">
            <a:solidFill>
              <a:srgbClr val="23856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632704" y="3456432"/>
            <a:ext cx="0" cy="292607"/>
          </a:xfrm>
          <a:prstGeom prst="line">
            <a:avLst/>
          </a:prstGeom>
          <a:ln w="19050">
            <a:solidFill>
              <a:srgbClr val="23856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8368" y="5193792"/>
            <a:ext cx="8412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202A"/>
                </a:solidFill>
                <a:latin typeface="Pretendard"/>
              </a:rPr>
              <a:t>분석의 다음 단계는 더 복잡한 모형이 아니라, 지금 없는 관측치를 만드는 일입니다.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3 · 프로토타입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13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7202A"/>
                </a:solidFill>
                <a:latin typeface="Pretendard"/>
              </a:rPr>
              <a:t>새 앱이 아니라, 기존 ‘잇다’와 센터에 미매칭 기록을 얹습니다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포용이는 상담 신호가 실제로 수집·집계될 수 있음을 보여 주는 연구용 시연입니다.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제안의 실체를 오해 없이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포용이의 핵심 기능은 추천 화면이 아니라, 상담이 실패한 이유를 익명 통계로 남기는 데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왼쪽 입력 2개(잇다·센터) → 가운데 표준 코드 → 오른쪽 정부 대시보드. 앱 화면은 작은 증거로만.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서금원 공식 서비스처럼 보이게 만들지 않습니다. 실제 신청·알선 기능이 없는 연구용 시연 고지를 유지합니다.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§6.4 그림 16~18, 제3장 정책 제언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1609344"/>
            <a:ext cx="2011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57A7"/>
                </a:solidFill>
                <a:latin typeface="Pretendard"/>
              </a:rPr>
              <a:t>기존 접점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1938528"/>
            <a:ext cx="1170432" cy="3429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p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83892"/>
            <a:ext cx="1097280" cy="2938271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773936" y="1938528"/>
            <a:ext cx="1316736" cy="941832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65376" y="2121408"/>
            <a:ext cx="113385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서민금융 잇다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5376" y="2487168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공식 디지털 동선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73936" y="3182112"/>
            <a:ext cx="1316736" cy="941832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65376" y="3364992"/>
            <a:ext cx="113385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통합지원센터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65376" y="3730752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전국 50곳</a:t>
            </a:r>
          </a:p>
        </p:txBody>
      </p:sp>
      <p:sp>
        <p:nvSpPr>
          <p:cNvPr id="29" name="Chevron 28"/>
          <p:cNvSpPr/>
          <p:nvPr/>
        </p:nvSpPr>
        <p:spPr>
          <a:xfrm>
            <a:off x="3273552" y="2980944"/>
            <a:ext cx="384048" cy="530352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76472" y="1609344"/>
            <a:ext cx="21214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3856D"/>
                </a:solidFill>
                <a:latin typeface="Pretendard"/>
              </a:rPr>
              <a:t>표준 코드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94760" y="2103120"/>
            <a:ext cx="2148840" cy="621792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2103120"/>
            <a:ext cx="214884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02A"/>
                </a:solidFill>
                <a:latin typeface="Pretendard"/>
              </a:rPr>
              <a:t>자격 미달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4760" y="2926079"/>
            <a:ext cx="2148840" cy="621792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2926079"/>
            <a:ext cx="214884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02A"/>
                </a:solidFill>
                <a:latin typeface="Pretendard"/>
              </a:rPr>
              <a:t>서류·절차 장벽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94760" y="3749039"/>
            <a:ext cx="2148840" cy="621792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94760" y="3749039"/>
            <a:ext cx="214884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7202A"/>
                </a:solidFill>
                <a:latin typeface="Pretendard"/>
              </a:rPr>
              <a:t>적합 상품 없음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94760" y="4773168"/>
            <a:ext cx="2148840" cy="56692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4760" y="4773168"/>
            <a:ext cx="214884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5F6B76"/>
                </a:solidFill>
                <a:latin typeface="Pretendard"/>
              </a:rPr>
              <a:t>익명 집계 · k≥5 마스킹</a:t>
            </a:r>
          </a:p>
        </p:txBody>
      </p:sp>
      <p:sp>
        <p:nvSpPr>
          <p:cNvPr id="39" name="Chevron 38"/>
          <p:cNvSpPr/>
          <p:nvPr/>
        </p:nvSpPr>
        <p:spPr>
          <a:xfrm>
            <a:off x="6144768" y="2980944"/>
            <a:ext cx="384048" cy="530352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56832" y="1609344"/>
            <a:ext cx="2423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4F55"/>
                </a:solidFill>
                <a:latin typeface="Pretendard"/>
              </a:rPr>
              <a:t>정부 조기경보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56832" y="1938528"/>
            <a:ext cx="2468880" cy="3429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app_gov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717196"/>
            <a:ext cx="2395728" cy="18716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3 · 신호 가치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14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7202A"/>
                </a:solidFill>
                <a:latin typeface="Pretendard"/>
              </a:rPr>
              <a:t>신호는 많이 모으는 것보다, 대표성 있게 보정하는 것이 중요합니다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월 1만 건이면 정밀도는 ±3.6%p지만, 편향을 보정하지 않으면 배분 개선은 0이었습니다.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데이터 활용의 조건 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상담 로그를 곧바로 예산에 넣지 않습니다. 충분한 표본, 사후층화 보정, 개인정보 보호가 모두 필요합니다.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왼쪽은 표본 증가에 따른 오차 축소, 오른쪽은 원신호와 보정신호의 개선폭 비교.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오배분율 6.9→4.3은 가정 조건부입니다. ±3.6%p만 가정과 무관한 결과라고 구분합니다.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§6.2~6.3 표 16·16-3·그림 16-1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1609344"/>
            <a:ext cx="4206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57A7"/>
                </a:solidFill>
                <a:latin typeface="Pretendard"/>
              </a:rPr>
              <a:t>표본이 주는 것: 정밀도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084831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202A"/>
                </a:solidFill>
                <a:latin typeface="Pretendard"/>
              </a:rPr>
              <a:t>1천 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2112263"/>
            <a:ext cx="3337560" cy="228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71600" y="2112263"/>
            <a:ext cx="1068019" cy="228600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2075688"/>
            <a:ext cx="76809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±11.3%p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77063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202A"/>
                </a:solidFill>
                <a:latin typeface="Pretendard"/>
              </a:rPr>
              <a:t>1만 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2798063"/>
            <a:ext cx="3337560" cy="228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71600" y="2798063"/>
            <a:ext cx="2269540" cy="228600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8888" y="2761488"/>
            <a:ext cx="76809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±3.6%p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45643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202A"/>
                </a:solidFill>
                <a:latin typeface="Pretendard"/>
              </a:rPr>
              <a:t>5만 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3483863"/>
            <a:ext cx="3337560" cy="228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371600" y="3483863"/>
            <a:ext cx="3337560" cy="228600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18888" y="3447288"/>
            <a:ext cx="76809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±1.63%p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370832"/>
            <a:ext cx="5093208" cy="1060704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572000"/>
            <a:ext cx="148132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457A7"/>
                </a:solidFill>
                <a:latin typeface="Pretendard"/>
              </a:rPr>
              <a:t>가정과 무관한 결론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526280"/>
            <a:ext cx="29260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02A"/>
                </a:solidFill>
                <a:latin typeface="Pretendard"/>
              </a:rPr>
              <a:t>월 1만 건이면 시도별 미매칭률을 ±3.6%p로 관측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0448" y="1609344"/>
            <a:ext cx="327355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4F55"/>
                </a:solidFill>
                <a:latin typeface="Pretendard"/>
              </a:rPr>
              <a:t>대표성이 주는 것: 쓸 수 있는 신호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70448" y="1956816"/>
            <a:ext cx="3273552" cy="2176272"/>
          </a:xfrm>
          <a:prstGeom prst="rect">
            <a:avLst/>
          </a:prstGeom>
          <a:solidFill>
            <a:srgbClr val="FFFFFF"/>
          </a:solidFill>
          <a:ln w="1143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oyong_bias_m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2115151"/>
            <a:ext cx="3200400" cy="1859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961888" y="3895344"/>
            <a:ext cx="309067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실측 디지털 편향 캘리브레이션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70448" y="4370832"/>
            <a:ext cx="1572768" cy="1060704"/>
          </a:xfrm>
          <a:prstGeom prst="roundRect">
            <a:avLst>
              <a:gd name="adj" fmla="val 8000"/>
            </a:avLst>
          </a:prstGeom>
          <a:solidFill>
            <a:srgbClr val="FAECEE"/>
          </a:solidFill>
          <a:ln>
            <a:solidFill>
              <a:srgbClr val="F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8464" y="4590288"/>
            <a:ext cx="1316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C94F55"/>
                </a:solidFill>
                <a:latin typeface="Pretendard"/>
              </a:rPr>
              <a:t>−0.04%p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98464" y="5001768"/>
            <a:ext cx="13167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F6B76"/>
                </a:solidFill>
                <a:latin typeface="Pretendard"/>
              </a:rPr>
              <a:t>원신호 개선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71231" y="4370832"/>
            <a:ext cx="1572768" cy="1060704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9248" y="4590288"/>
            <a:ext cx="131673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3856D"/>
                </a:solidFill>
                <a:latin typeface="Pretendard"/>
              </a:rPr>
              <a:t>+1.86%p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5001768"/>
            <a:ext cx="13167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F6B76"/>
                </a:solidFill>
                <a:latin typeface="Pretendard"/>
              </a:rPr>
              <a:t>사후층화 보정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4 · 정책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15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7202A"/>
                </a:solidFill>
                <a:latin typeface="Pretendard"/>
              </a:rPr>
              <a:t>도달 지표는 작게 시범 도입하고, 상담 신호는 기존 동선에 심습니다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새 제도를 한 번에 만들기보다, 이미 산출 가능한 두 사업에서 시작해 단계적으로 확장합니다.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실행 가능한 제안으로 수렴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첫 단계는 복권기금 세부사업 2개의 성과평가에 공급 강도를 나란히 쓰는 일입니다. 데이터와 산식이 이미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3단 로드맵. 각 단계 아래 실행 주체와 산출물을 한 줄로. 앱 신설 아이콘은 사용하지 않기.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상품마다 자격과 반복 이용이 다르므로 모든 상품에 같은 목표 상승률을 부여하지 않습니다.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제3장 정책 제언 1~3·표 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664208"/>
            <a:ext cx="2743200" cy="2980944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>
            <a:solidFill>
              <a:srgbClr val="EA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6656" y="1874519"/>
            <a:ext cx="74980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1892807"/>
            <a:ext cx="60350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457A7"/>
                </a:solidFill>
                <a:latin typeface="Pretendard"/>
              </a:rPr>
              <a:t>1단계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2395728"/>
            <a:ext cx="22860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02A"/>
                </a:solidFill>
                <a:latin typeface="Pretendard"/>
              </a:rPr>
              <a:t>시범 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2944368"/>
            <a:ext cx="228600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2A"/>
                </a:solidFill>
                <a:latin typeface="Pretendard"/>
              </a:rPr>
              <a:t>복권기금 세부사업 2개에
집행률 + 공급 강도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6656" y="3822191"/>
            <a:ext cx="2286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6656" y="4041648"/>
            <a:ext cx="22860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B76"/>
                </a:solidFill>
                <a:latin typeface="Pretendard"/>
              </a:rPr>
              <a:t>금융위 산출 · 복권위 성과평가</a:t>
            </a:r>
          </a:p>
        </p:txBody>
      </p:sp>
      <p:sp>
        <p:nvSpPr>
          <p:cNvPr id="27" name="Chevron 26"/>
          <p:cNvSpPr/>
          <p:nvPr/>
        </p:nvSpPr>
        <p:spPr>
          <a:xfrm>
            <a:off x="3310128" y="2852928"/>
            <a:ext cx="365760" cy="54864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20440" y="1664208"/>
            <a:ext cx="2743200" cy="2980944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739896" y="1874519"/>
            <a:ext cx="74980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3048" y="1892807"/>
            <a:ext cx="60350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3856D"/>
                </a:solidFill>
                <a:latin typeface="Pretendard"/>
              </a:rPr>
              <a:t>2단계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9896" y="2395728"/>
            <a:ext cx="22860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02A"/>
                </a:solidFill>
                <a:latin typeface="Pretendard"/>
              </a:rPr>
              <a:t>신호 내장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9896" y="2944368"/>
            <a:ext cx="228600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2A"/>
                </a:solidFill>
                <a:latin typeface="Pretendard"/>
              </a:rPr>
              <a:t>잇다·통합지원센터에
미매칭 사유 표준 코드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39896" y="3822191"/>
            <a:ext cx="2286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39896" y="4041648"/>
            <a:ext cx="22860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B76"/>
                </a:solidFill>
                <a:latin typeface="Pretendard"/>
              </a:rPr>
              <a:t>서금원 수집 · 분기 퍼널 공표</a:t>
            </a:r>
          </a:p>
        </p:txBody>
      </p:sp>
      <p:sp>
        <p:nvSpPr>
          <p:cNvPr id="35" name="Chevron 34"/>
          <p:cNvSpPr/>
          <p:nvPr/>
        </p:nvSpPr>
        <p:spPr>
          <a:xfrm>
            <a:off x="6373368" y="2852928"/>
            <a:ext cx="365760" cy="54864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83680" y="1664208"/>
            <a:ext cx="2743200" cy="2980944"/>
          </a:xfrm>
          <a:prstGeom prst="roundRect">
            <a:avLst>
              <a:gd name="adj" fmla="val 8000"/>
            </a:avLst>
          </a:prstGeom>
          <a:solidFill>
            <a:srgbClr val="EFEAF8"/>
          </a:solidFill>
          <a:ln>
            <a:solidFill>
              <a:srgbClr val="E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03136" y="1874519"/>
            <a:ext cx="749808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76288" y="1892807"/>
            <a:ext cx="603503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D5AA7"/>
                </a:solidFill>
                <a:latin typeface="Pretendard"/>
              </a:rPr>
              <a:t>3단계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3136" y="2395728"/>
            <a:ext cx="22860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02A"/>
                </a:solidFill>
                <a:latin typeface="Pretendard"/>
              </a:rPr>
              <a:t>지표 완성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3136" y="2944368"/>
            <a:ext cx="228600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02A"/>
                </a:solidFill>
                <a:latin typeface="Pretendard"/>
              </a:rPr>
              <a:t>전 상품 공급 강도 공표 +
조사 문항 1개 추가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03136" y="3822191"/>
            <a:ext cx="2286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03136" y="4041648"/>
            <a:ext cx="22860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B76"/>
                </a:solidFill>
                <a:latin typeface="Pretendard"/>
              </a:rPr>
              <a:t>커버리지 산출 · 예산 환류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956048"/>
            <a:ext cx="8869680" cy="713232"/>
          </a:xfrm>
          <a:prstGeom prst="roundRect">
            <a:avLst>
              <a:gd name="adj" fmla="val 8000"/>
            </a:avLst>
          </a:prstGeom>
          <a:solidFill>
            <a:srgbClr val="17202A"/>
          </a:solidFill>
          <a:ln>
            <a:solidFill>
              <a:srgbClr val="17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5138928"/>
            <a:ext cx="83667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성과지표 5층: 공급 강도 · 실이용자 커버리지 · 전달 편의성 · 미매칭 해소 · 안전성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4 · 해석의 경계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7202A"/>
                </a:solidFill>
                <a:latin typeface="Pretendard"/>
              </a:rPr>
              <a:t>좋은 분석은 큰 숫자보다, 어디까지 말할 수 있는지를 분명히 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관측·추정·연관·시나리오를 구분해야 정책 제안의 신뢰도가 유지됩니다.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질의응답 전 신뢰도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저희는 공백을 측정했지만, 모든 숫자를 인과나 확정 배분으로 해석하지 않았습니다.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왼쪽 ‘말할 수 있음’, 오른쪽 ‘말하면 안 됨’. 다섯 쌍을 짧게 대조.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한계 슬라이드를 사과문처럼 만들지 않습니다. 분석 사용 설명서로 보여 줍니다.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제3장 제2절 한계와 연구 윤리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618488"/>
            <a:ext cx="4251960" cy="4224528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>
            <a:solidFill>
              <a:srgbClr val="E8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1874519"/>
            <a:ext cx="36118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3856D"/>
                </a:solidFill>
                <a:latin typeface="Pretendard"/>
              </a:rPr>
              <a:t>말할 수 있습니다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2423160"/>
            <a:ext cx="3611880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집행률만으로 정책서민금융 도달을 설명할 수 없다</a:t>
            </a:r>
          </a:p>
          <a:p>
            <a:pPr>
              <a:spcAft>
                <a:spcPts val="900"/>
              </a:spcAft>
              <a:defRPr sz="12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안내 인지와 접점이 이용 격차와 강하게 연결된다</a:t>
            </a:r>
          </a:p>
          <a:p>
            <a:pPr>
              <a:spcAft>
                <a:spcPts val="900"/>
              </a:spcAft>
              <a:defRPr sz="12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월 1만 건이면 지역 미매칭률을 ±3.6%p로 관측한다</a:t>
            </a:r>
          </a:p>
          <a:p>
            <a:pPr>
              <a:spcAft>
                <a:spcPts val="900"/>
              </a:spcAft>
              <a:defRPr sz="12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보정 없는 디지털 신호는 배분 가치가 없다</a:t>
            </a:r>
          </a:p>
          <a:p>
            <a:pPr>
              <a:spcAft>
                <a:spcPts val="900"/>
              </a:spcAft>
              <a:defRPr sz="12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모든 산출은 공개 데이터와 스크립트로 재현된다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56048" y="1618488"/>
            <a:ext cx="4251960" cy="4224528"/>
          </a:xfrm>
          <a:prstGeom prst="roundRect">
            <a:avLst>
              <a:gd name="adj" fmla="val 8000"/>
            </a:avLst>
          </a:prstGeom>
          <a:solidFill>
            <a:srgbClr val="FAECEE"/>
          </a:solidFill>
          <a:ln>
            <a:solidFill>
              <a:srgbClr val="F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48656" y="1874519"/>
            <a:ext cx="36118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94F55"/>
                </a:solidFill>
                <a:latin typeface="Pretendard"/>
              </a:rPr>
              <a:t>이렇게 말하면 안 됩니다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6" y="2423160"/>
            <a:ext cx="3611880" cy="2606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공급 강도 2.1건 = 수급률 2.1%</a:t>
            </a:r>
          </a:p>
          <a:p>
            <a:pPr>
              <a:spcAft>
                <a:spcPts val="900"/>
              </a:spcAft>
              <a:defRPr sz="12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접점이 월 1.7만 건의 숨은 수요를 인과적으로 발굴했다</a:t>
            </a:r>
          </a:p>
          <a:p>
            <a:pPr>
              <a:spcAft>
                <a:spcPts val="900"/>
              </a:spcAft>
              <a:defRPr sz="12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CGI가 특정 지역을 확정적 사각지대로 판정했다</a:t>
            </a:r>
          </a:p>
          <a:p>
            <a:pPr>
              <a:spcAft>
                <a:spcPts val="900"/>
              </a:spcAft>
              <a:defRPr sz="12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오배분율 6.9→4.3%가 실증된 정책 효과다</a:t>
            </a:r>
          </a:p>
          <a:p>
            <a:pPr>
              <a:spcAft>
                <a:spcPts val="900"/>
              </a:spcAft>
              <a:defRPr sz="12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XGBoost 점수만으로 행정 대상을 자동 선정할 수 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87752" y="5321808"/>
            <a:ext cx="4498848" cy="310896"/>
          </a:xfrm>
          <a:prstGeom prst="roundRect">
            <a:avLst>
              <a:gd name="adj" fmla="val 8000"/>
            </a:avLst>
          </a:prstGeom>
          <a:solidFill>
            <a:srgbClr val="FFF5D9"/>
          </a:solidFill>
          <a:ln>
            <a:solidFill>
              <a:srgbClr val="FFF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60904" y="5340096"/>
            <a:ext cx="43525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A86D00"/>
                </a:solidFill>
                <a:latin typeface="Pretendard"/>
              </a:rPr>
              <a:t>소액생계비 신용 프록시 민감도: 공급 강도 6.2~64.7건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57232" y="0"/>
            <a:ext cx="2331720" cy="6858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46304"/>
            <a:ext cx="91440" cy="347472"/>
          </a:xfrm>
          <a:prstGeom prst="roundRect">
            <a:avLst>
              <a:gd name="adj" fmla="val 8000"/>
            </a:avLst>
          </a:prstGeom>
          <a:solidFill>
            <a:srgbClr val="2457A7"/>
          </a:solidFill>
          <a:ln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55448"/>
            <a:ext cx="2468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57A7"/>
                </a:solidFill>
                <a:latin typeface="Pretendard"/>
              </a:rPr>
              <a:t>ACT 4 ·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5544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B76"/>
                </a:solidFill>
                <a:latin typeface="Pretendard"/>
              </a:rPr>
              <a:t>17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12064"/>
            <a:ext cx="91897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7202A"/>
                </a:solidFill>
                <a:latin typeface="Pretendard"/>
              </a:rPr>
              <a:t>재지 않으면, 닿지 않습니다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69264"/>
            <a:ext cx="91257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공급자 장부에서 사람의 도달까지 성과관리의 시야를 넓혀야 합니다.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1353312"/>
            <a:ext cx="9144000" cy="0"/>
          </a:xfrm>
          <a:prstGeom prst="line">
            <a:avLst/>
          </a:prstGeom>
          <a:ln w="11430">
            <a:solidFill>
              <a:srgbClr val="D7DD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21824" y="201168"/>
            <a:ext cx="18196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57A7"/>
                </a:solidFill>
                <a:latin typeface="Pretendard"/>
              </a:rPr>
              <a:t>디자인에서 부탁할 것들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1824" y="603504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이 장의 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1824" y="813816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최종 기억점 회수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80136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입으로 남길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2011680"/>
            <a:ext cx="1819656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1">
                <a:solidFill>
                  <a:srgbClr val="17202A"/>
                </a:solidFill>
                <a:latin typeface="Pretendard"/>
              </a:rPr>
              <a:t>집행률을 버리자는 말이 아닙니다. 그 옆에 도달 지표를 놓아, 같은 돈이 어디에서 멈추는지 보자는 제안입니다.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3218688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권장 시각화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429000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As-Is와 To-Be를 두 장부로 대조한 뒤 마지막 문장을 화면 중앙에 크게 남김.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21824" y="4416552"/>
            <a:ext cx="18196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6"/>
                </a:solidFill>
                <a:latin typeface="Pretendard"/>
              </a:rPr>
              <a:t>주의할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4626864"/>
            <a:ext cx="181965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919" b="0">
                <a:solidFill>
                  <a:srgbClr val="17202A"/>
                </a:solidFill>
                <a:latin typeface="Pretendard"/>
              </a:rPr>
              <a:t>새로운 기술의 혁신성보다, 측정 방식과 정책 환류의 변화를 강조합니다.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6327648"/>
            <a:ext cx="1819656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C94F55"/>
                </a:solidFill>
                <a:latin typeface="Pretendard"/>
              </a:rPr>
              <a:t>※ 오른쪽 메모 영역은 최종 디자인에서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528816"/>
            <a:ext cx="90982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F6B76"/>
                </a:solidFill>
                <a:latin typeface="Pretendard"/>
              </a:rPr>
              <a:t>근거: 보고서 제3장 제1절 표 17·결론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64208"/>
            <a:ext cx="1097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F6B76"/>
                </a:solidFill>
                <a:latin typeface="Pretendard"/>
              </a:rPr>
              <a:t>As-Is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05740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423160"/>
            <a:ext cx="2926080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5F6B76"/>
                </a:solidFill>
                <a:latin typeface="Pretendard"/>
              </a:defRPr>
            </a:pPr>
            <a:r>
              <a:rPr>
                <a:latin typeface="Pretendard"/>
              </a:rPr>
              <a:t>•  집행률 · 공급액 · 지원 건수</a:t>
            </a:r>
          </a:p>
          <a:p>
            <a:pPr>
              <a:spcAft>
                <a:spcPts val="900"/>
              </a:spcAft>
              <a:defRPr sz="1400">
                <a:solidFill>
                  <a:srgbClr val="5F6B76"/>
                </a:solidFill>
                <a:latin typeface="Pretendard"/>
              </a:defRPr>
            </a:pPr>
            <a:r>
              <a:rPr>
                <a:latin typeface="Pretendard"/>
              </a:rPr>
              <a:t>•  연 1회 결산</a:t>
            </a:r>
          </a:p>
          <a:p>
            <a:pPr>
              <a:spcAft>
                <a:spcPts val="900"/>
              </a:spcAft>
              <a:defRPr sz="1400">
                <a:solidFill>
                  <a:srgbClr val="5F6B76"/>
                </a:solidFill>
                <a:latin typeface="Pretendard"/>
              </a:defRPr>
            </a:pPr>
            <a:r>
              <a:rPr>
                <a:latin typeface="Pretendard"/>
              </a:rPr>
              <a:t>•  불용·이월만 포착</a:t>
            </a:r>
          </a:p>
          <a:p>
            <a:pPr>
              <a:spcAft>
                <a:spcPts val="900"/>
              </a:spcAft>
              <a:defRPr sz="1400">
                <a:solidFill>
                  <a:srgbClr val="5F6B76"/>
                </a:solidFill>
                <a:latin typeface="Pretendard"/>
              </a:defRPr>
            </a:pPr>
            <a:r>
              <a:rPr>
                <a:latin typeface="Pretendard"/>
              </a:rPr>
              <a:t>•  공급자 장부에서 종료</a:t>
            </a:r>
          </a:p>
        </p:txBody>
      </p:sp>
      <p:sp>
        <p:nvSpPr>
          <p:cNvPr id="23" name="Chevron 22"/>
          <p:cNvSpPr/>
          <p:nvPr/>
        </p:nvSpPr>
        <p:spPr>
          <a:xfrm>
            <a:off x="4315968" y="2843784"/>
            <a:ext cx="530352" cy="658368"/>
          </a:xfrm>
          <a:prstGeom prst="chevron">
            <a:avLst/>
          </a:prstGeom>
          <a:solidFill>
            <a:srgbClr val="EAF1FB"/>
          </a:solidFill>
          <a:ln w="12700">
            <a:solidFill>
              <a:srgbClr val="245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1664208"/>
            <a:ext cx="1097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3856D"/>
                </a:solidFill>
                <a:latin typeface="Pretendard"/>
              </a:rPr>
              <a:t>To-Be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02352" y="2057400"/>
            <a:ext cx="4041648" cy="2240280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 w="15240">
            <a:solidFill>
              <a:srgbClr val="23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13248" y="2423160"/>
            <a:ext cx="3401568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+ 공급 강도 · 수급률 · CGI</a:t>
            </a:r>
          </a:p>
          <a:p>
            <a:pPr>
              <a:spcAft>
                <a:spcPts val="900"/>
              </a:spcAft>
              <a:defRPr sz="14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+ 미매칭률 · 사유별 해소율</a:t>
            </a:r>
          </a:p>
          <a:p>
            <a:pPr>
              <a:spcAft>
                <a:spcPts val="900"/>
              </a:spcAft>
              <a:defRPr sz="14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월~분기 조기경보</a:t>
            </a:r>
          </a:p>
          <a:p>
            <a:pPr>
              <a:spcAft>
                <a:spcPts val="900"/>
              </a:spcAft>
              <a:defRPr sz="1400">
                <a:solidFill>
                  <a:srgbClr val="17202A"/>
                </a:solidFill>
                <a:latin typeface="Pretendard"/>
              </a:defRPr>
            </a:pPr>
            <a:r>
              <a:rPr>
                <a:latin typeface="Pretendard"/>
              </a:rPr>
              <a:t>•  차년도 예산·접점 배치에 환류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892040"/>
            <a:ext cx="845820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457A7"/>
                </a:solidFill>
                <a:latin typeface="Pretendard"/>
              </a:rPr>
              <a:t>재지 않으면, 닿지 않습니다.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522976"/>
            <a:ext cx="8458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F6B76"/>
                </a:solidFill>
                <a:latin typeface="Pretendard"/>
              </a:rPr>
              <a:t>집행률을 넘어 도달 지표로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Voice2Policy PPT 구현 방향성 백지안</dc:title>
  <dc:subject>디자인 작업을 위한 발표 구조·메시지·시각화 가이드</dc:subject>
  <dc:creator>Voice2Policy</dc:creator>
  <cp:keywords/>
  <dc:description>오른쪽 메모 영역은 디자인 작업 과정에서만 사용하고 최종본에서 삭제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